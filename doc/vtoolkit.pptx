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6"/>
  </p:notesMasterIdLst>
  <p:handoutMasterIdLst>
    <p:handoutMasterId r:id="rId17"/>
  </p:handoutMasterIdLst>
  <p:sldIdLst>
    <p:sldId id="2939" r:id="rId2"/>
    <p:sldId id="2940" r:id="rId3"/>
    <p:sldId id="2935" r:id="rId4"/>
    <p:sldId id="2931" r:id="rId5"/>
    <p:sldId id="275" r:id="rId6"/>
    <p:sldId id="2933" r:id="rId7"/>
    <p:sldId id="276" r:id="rId8"/>
    <p:sldId id="2941" r:id="rId9"/>
    <p:sldId id="2936" r:id="rId10"/>
    <p:sldId id="279" r:id="rId11"/>
    <p:sldId id="2937" r:id="rId12"/>
    <p:sldId id="278" r:id="rId13"/>
    <p:sldId id="2934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78C"/>
    <a:srgbClr val="95C1AD"/>
    <a:srgbClr val="4472C4"/>
    <a:srgbClr val="1D4A90"/>
    <a:srgbClr val="2CA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57" autoAdjust="0"/>
    <p:restoredTop sz="88163" autoAdjust="0"/>
  </p:normalViewPr>
  <p:slideViewPr>
    <p:cSldViewPr snapToGrid="0">
      <p:cViewPr varScale="1">
        <p:scale>
          <a:sx n="112" d="100"/>
          <a:sy n="112" d="100"/>
        </p:scale>
        <p:origin x="1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352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CADDDB-EFDF-E145-A5CC-A70D807906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41FF93-9B5A-3046-86BE-660E05D918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45E5-6E79-1747-B494-145D080566C2}" type="datetimeFigureOut">
              <a:rPr kumimoji="1" lang="zh-CN" altLang="en-US" smtClean="0"/>
              <a:t>2022/6/7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C2A1D1-5929-704E-A6E3-ADD341CA79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5013D8-7D1C-8B4B-9BE7-50C7B4788B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386A1-FB39-5B41-A9C1-1261B57E4A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5212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12BD2-0854-40BC-9B1E-34E0485095F1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33C2D-FC7F-4240-8133-40A432168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23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典型的抗体结构呈</a:t>
            </a:r>
            <a:r>
              <a:rPr kumimoji="1" lang="en-US" altLang="zh-CN" dirty="0"/>
              <a:t>Y</a:t>
            </a:r>
            <a:r>
              <a:rPr kumimoji="1" lang="zh-CN" altLang="en-US" dirty="0"/>
              <a:t>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581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61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535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4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841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6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18AD8-FCA7-BC4D-9A56-F2AA590FDC8D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68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5DEC-3458-8644-9E84-9A43E3CFD3BC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1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B032-B0BF-274A-A3AF-ABBFCF538123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18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A45F-C0E2-8844-B169-C25B88B797E5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4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9E2FD-BAD3-3442-92B4-0424623884D7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76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55306-4621-0048-954A-D1CBA9A19102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8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72B2-E00E-9146-AD78-B8386A13A954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13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BB56-3124-3343-91B9-6FBDACBAEA7C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35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3A3BA-192E-1041-AEB1-C273B37EF56E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02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5DB3-B9F2-D541-B7E2-1F0BF0994A75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86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77D1-64C6-674D-943A-4BDF2EF83DC0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10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-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33D2D-AA44-4D30-BBCD-85923E087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103217"/>
            <a:ext cx="7655621" cy="758825"/>
          </a:xfrm>
        </p:spPr>
        <p:txBody>
          <a:bodyPr>
            <a:normAutofit/>
          </a:bodyPr>
          <a:lstStyle>
            <a:lvl1pPr algn="ctr">
              <a:defRPr sz="28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7394F3-282E-4A42-AD89-D82DB0E5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E718-8934-B343-9ECF-9668A34155A3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69FCC-2D3D-4480-B836-012C81F6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7C091-236D-47FC-AC51-D9E707C0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5D5B3E0-9D45-4E3F-8D8B-AD756A777380}"/>
              </a:ext>
            </a:extLst>
          </p:cNvPr>
          <p:cNvCxnSpPr>
            <a:cxnSpLocks/>
          </p:cNvCxnSpPr>
          <p:nvPr userDrawn="1"/>
        </p:nvCxnSpPr>
        <p:spPr>
          <a:xfrm>
            <a:off x="961292" y="775853"/>
            <a:ext cx="1049215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9">
            <a:extLst>
              <a:ext uri="{FF2B5EF4-FFF2-40B4-BE49-F238E27FC236}">
                <a16:creationId xmlns:a16="http://schemas.microsoft.com/office/drawing/2014/main" id="{C0EA3ACB-242A-4D42-BC7B-3AE2C7ECD4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433" y="170392"/>
            <a:ext cx="97367" cy="57573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19A4A4DC-7124-4B0F-8FF7-A7E602AB51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70392"/>
            <a:ext cx="334433" cy="575733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1D4A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53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127B6-02E2-A74B-8689-BCEB5E89BA66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4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F71F2F-5FE8-2B42-BBE4-A7522F991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骆驼科抗体的生物信息学分析工具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23B09446-B4E0-8F49-8754-DFB9D2456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9142"/>
            <a:ext cx="9144000" cy="1048657"/>
          </a:xfrm>
        </p:spPr>
        <p:txBody>
          <a:bodyPr/>
          <a:lstStyle/>
          <a:p>
            <a:r>
              <a:rPr lang="zh-CN" altLang="en-US" dirty="0">
                <a:cs typeface="Arial" panose="020B0604020202020204" pitchFamily="34" charset="0"/>
              </a:rPr>
              <a:t>刘月星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en-US" altLang="zh-CN" dirty="0">
                <a:cs typeface="Arial" panose="020B0604020202020204" pitchFamily="34" charset="0"/>
              </a:rPr>
              <a:t>2022.6.7</a:t>
            </a:r>
          </a:p>
        </p:txBody>
      </p:sp>
    </p:spTree>
    <p:extLst>
      <p:ext uri="{BB962C8B-B14F-4D97-AF65-F5344CB8AC3E}">
        <p14:creationId xmlns:p14="http://schemas.microsoft.com/office/powerpoint/2010/main" val="37264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E781FA-69DB-EC4B-AF46-591A2490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2" y="862042"/>
            <a:ext cx="3643044" cy="35272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29473E2-84E4-8544-A5AF-43BDCE733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457" y="1717772"/>
            <a:ext cx="5525343" cy="20315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B99A32-5AF1-4740-9CF0-C7B9782F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抗体的结构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A9B12C-9C26-9F44-8FC7-46039433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4470DF-3771-1446-8204-B725CD6B6FC8}"/>
              </a:ext>
            </a:extLst>
          </p:cNvPr>
          <p:cNvSpPr txBox="1"/>
          <p:nvPr/>
        </p:nvSpPr>
        <p:spPr>
          <a:xfrm>
            <a:off x="517455" y="3244334"/>
            <a:ext cx="2238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kumimoji="1" lang="en-US" altLang="zh-CN" dirty="0"/>
              <a:t>IgG</a:t>
            </a:r>
            <a:r>
              <a:rPr kumimoji="1" lang="zh-CN" altLang="en-US" dirty="0"/>
              <a:t>抗体的结构</a:t>
            </a:r>
            <a:r>
              <a:rPr lang="zh-CN" altLang="en-US" dirty="0"/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4F81F9-9B27-9941-93BD-D5E16E1DF97C}"/>
              </a:ext>
            </a:extLst>
          </p:cNvPr>
          <p:cNvSpPr txBox="1"/>
          <p:nvPr/>
        </p:nvSpPr>
        <p:spPr>
          <a:xfrm>
            <a:off x="7556532" y="3898363"/>
            <a:ext cx="2069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抗体的编码基因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890CD51-BF23-4342-9C7D-DCA265D5F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387" y="4529459"/>
            <a:ext cx="3406630" cy="174806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F2AFBB3-2C58-5246-8E04-17FB8E2A0868}"/>
              </a:ext>
            </a:extLst>
          </p:cNvPr>
          <p:cNvSpPr txBox="1"/>
          <p:nvPr/>
        </p:nvSpPr>
        <p:spPr>
          <a:xfrm>
            <a:off x="4277102" y="629810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/>
              <a:t>同种型（</a:t>
            </a:r>
            <a:r>
              <a:rPr kumimoji="1" lang="en-US" altLang="zh-CN" dirty="0"/>
              <a:t>Isotypes,</a:t>
            </a:r>
            <a:r>
              <a:rPr kumimoji="1" lang="zh-CN" altLang="en-US" dirty="0"/>
              <a:t> 种类）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85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9FCED-D610-A542-8781-2941E4F4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</a:rPr>
              <a:t>可变区的鉴定是抗体分析的前提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A4F8C-DC36-2C44-B5CF-72832AA9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8C8DD6-217C-DB4F-ACFD-A12F172D5B3F}"/>
              </a:ext>
            </a:extLst>
          </p:cNvPr>
          <p:cNvSpPr txBox="1"/>
          <p:nvPr/>
        </p:nvSpPr>
        <p:spPr>
          <a:xfrm>
            <a:off x="1699062" y="5556131"/>
            <a:ext cx="828313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可变区在抗原的结合中起着关键作用，其多样性直接影响抗体结合抗原的种类。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可变区的鉴定是抗体分析的前提，对于免疫学研究和抗体工程具重要意义。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E0CECF-8B10-F540-8113-77505E19A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1425823"/>
            <a:ext cx="4457700" cy="2565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FC21B13-C0E4-164A-98D0-327CCE384A16}"/>
              </a:ext>
            </a:extLst>
          </p:cNvPr>
          <p:cNvSpPr txBox="1"/>
          <p:nvPr/>
        </p:nvSpPr>
        <p:spPr>
          <a:xfrm>
            <a:off x="3055514" y="4297239"/>
            <a:ext cx="5555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/>
              <a:t>抗体的可变区（</a:t>
            </a:r>
            <a:r>
              <a:rPr kumimoji="1" lang="en-US" altLang="zh-CN" sz="1600" b="1" dirty="0"/>
              <a:t>Variable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region,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V</a:t>
            </a:r>
            <a:r>
              <a:rPr kumimoji="1" lang="zh-CN" altLang="en-US" sz="1600" b="1" dirty="0"/>
              <a:t>区）是识别抗原的主要部位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24198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3A180-8495-42AC-BA15-0188FE3E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2800" dirty="0"/>
              <a:t>抗体可变区分析工具综述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2722902-DEB9-4DB1-B8E3-EA7BC90C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AD846E-6939-4BAA-B4C9-AC4DE4F7A0E6}"/>
              </a:ext>
            </a:extLst>
          </p:cNvPr>
          <p:cNvSpPr txBox="1"/>
          <p:nvPr/>
        </p:nvSpPr>
        <p:spPr>
          <a:xfrm>
            <a:off x="3250934" y="5960181"/>
            <a:ext cx="5476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抗体分析工具大多是基于序列比对，依赖参考基于数据库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2751A14-33E7-4011-986F-CA0FDB3A3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23340"/>
              </p:ext>
            </p:extLst>
          </p:nvPr>
        </p:nvGraphicFramePr>
        <p:xfrm>
          <a:off x="2031281" y="1707315"/>
          <a:ext cx="8641266" cy="374614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66037">
                  <a:extLst>
                    <a:ext uri="{9D8B030D-6E8A-4147-A177-3AD203B41FA5}">
                      <a16:colId xmlns:a16="http://schemas.microsoft.com/office/drawing/2014/main" val="611247503"/>
                    </a:ext>
                  </a:extLst>
                </a:gridCol>
                <a:gridCol w="4189033">
                  <a:extLst>
                    <a:ext uri="{9D8B030D-6E8A-4147-A177-3AD203B41FA5}">
                      <a16:colId xmlns:a16="http://schemas.microsoft.com/office/drawing/2014/main" val="3632056625"/>
                    </a:ext>
                  </a:extLst>
                </a:gridCol>
                <a:gridCol w="2286196">
                  <a:extLst>
                    <a:ext uri="{9D8B030D-6E8A-4147-A177-3AD203B41FA5}">
                      <a16:colId xmlns:a16="http://schemas.microsoft.com/office/drawing/2014/main" val="1017450103"/>
                    </a:ext>
                  </a:extLst>
                </a:gridCol>
              </a:tblGrid>
              <a:tr h="411409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Functionality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2980904815"/>
                  </a:ext>
                </a:extLst>
              </a:tr>
              <a:tr h="462347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IMGT/V-QUEST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 regions and subregions identification and Numbering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Giudicelli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al.,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3231797926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IGBLAST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 regions and subregions identification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al.,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1090448515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IgDiscover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 regions and subregions identification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Corcoran,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at.,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1106102392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ANARCI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 (IMGT, Kabat, </a:t>
                      </a:r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Chothia</a:t>
                      </a:r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Martin)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﻿Dunbar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et.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Al.,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2845943049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282541452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abYsis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Swindell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2017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405160302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abnum3</a:t>
                      </a:r>
                      <a:endParaRPr lang="en-US" sz="15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 (Kabat, </a:t>
                      </a:r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Chothia</a:t>
                      </a:r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Martin)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4112147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24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F56B3-BF33-43E1-81E6-F23F9A8A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可变区</a:t>
            </a:r>
            <a:r>
              <a:rPr lang="en-US" altLang="zh-CN" dirty="0"/>
              <a:t>FR</a:t>
            </a:r>
            <a:r>
              <a:rPr lang="zh-CN" altLang="en-US" dirty="0"/>
              <a:t>序列长度固定、氨基酸组成保守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B20F4-D553-4E69-8847-C369A1E2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277ED9-4E34-4703-AF12-F67B4856FD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64" r="20841" b="45243"/>
          <a:stretch/>
        </p:blipFill>
        <p:spPr>
          <a:xfrm>
            <a:off x="4622150" y="937915"/>
            <a:ext cx="4335291" cy="28803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64B8C0-6A17-4110-8411-5332650608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74" r="7730"/>
          <a:stretch/>
        </p:blipFill>
        <p:spPr>
          <a:xfrm>
            <a:off x="3387257" y="3894091"/>
            <a:ext cx="7655621" cy="2685479"/>
          </a:xfrm>
          <a:prstGeom prst="rect">
            <a:avLst/>
          </a:prstGeom>
        </p:spPr>
      </p:pic>
      <p:pic>
        <p:nvPicPr>
          <p:cNvPr id="1026" name="Picture 2" descr="logo IMGT">
            <a:extLst>
              <a:ext uri="{FF2B5EF4-FFF2-40B4-BE49-F238E27FC236}">
                <a16:creationId xmlns:a16="http://schemas.microsoft.com/office/drawing/2014/main" id="{CA1D5862-2792-4527-8343-A8392B68A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91" y="3208618"/>
            <a:ext cx="14382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F1C9F2C-9ACF-4C6E-B951-73D90906CB5E}"/>
              </a:ext>
            </a:extLst>
          </p:cNvPr>
          <p:cNvSpPr txBox="1"/>
          <p:nvPr/>
        </p:nvSpPr>
        <p:spPr>
          <a:xfrm>
            <a:off x="547966" y="4512725"/>
            <a:ext cx="2331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国际免疫遗传学数据库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en-US" altLang="zh-CN" sz="1200" dirty="0" err="1">
                <a:latin typeface="Arial" panose="020B0604020202020204" pitchFamily="34" charset="0"/>
                <a:cs typeface="Arial" panose="020B0604020202020204" pitchFamily="34" charset="0"/>
              </a:rPr>
              <a:t>ImMunoGeneTics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Information System, IMGT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848C855-AA57-EE43-9171-45D8CCA83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66" y="1290317"/>
            <a:ext cx="2908073" cy="167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F56B3-BF33-43E1-81E6-F23F9A8A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抗体可变区检测器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B20F4-D553-4E69-8847-C369A1E2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79F98E-F6EB-4B68-A0DF-DBE415EF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78" y="1839532"/>
            <a:ext cx="6684847" cy="36096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A0470D-F470-422B-8742-1BBAF4713B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36"/>
          <a:stretch/>
        </p:blipFill>
        <p:spPr>
          <a:xfrm>
            <a:off x="7010308" y="1564068"/>
            <a:ext cx="4823242" cy="45865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48952A-E28F-0B45-802F-DCA4DB221EA3}"/>
              </a:ext>
            </a:extLst>
          </p:cNvPr>
          <p:cNvSpPr txBox="1"/>
          <p:nvPr/>
        </p:nvSpPr>
        <p:spPr>
          <a:xfrm>
            <a:off x="631906" y="5684261"/>
            <a:ext cx="5789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detector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(V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detector)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Naïve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9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82B4C-95C1-4213-A707-0068468C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抗体可变区检测器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249E37-35B8-45EB-8D4B-2C38D01E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5B6894-09D2-4C0A-A58E-56C10C093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234"/>
          <a:stretch/>
        </p:blipFill>
        <p:spPr>
          <a:xfrm>
            <a:off x="8340090" y="3415311"/>
            <a:ext cx="3013710" cy="2817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DF0EF8-3BA3-432C-B82C-E18144D761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816"/>
          <a:stretch/>
        </p:blipFill>
        <p:spPr>
          <a:xfrm>
            <a:off x="7865787" y="985867"/>
            <a:ext cx="3378463" cy="28172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6078034-5ED0-432F-BACD-67AEAC0D3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0" t="12615" r="11163" b="43311"/>
          <a:stretch/>
        </p:blipFill>
        <p:spPr>
          <a:xfrm>
            <a:off x="577013" y="985867"/>
            <a:ext cx="6931372" cy="53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9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AAD9A-A98E-A94E-8A28-CE8B199C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IMGT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Scheme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F3EBA2-F4B4-2D44-B783-77F88396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9B0CFD-BF60-FC41-B1F9-7C0816D96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507" y="1009109"/>
            <a:ext cx="4401639" cy="51050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E45DC2-8A1A-D948-99A7-91BD6CD900D2}"/>
              </a:ext>
            </a:extLst>
          </p:cNvPr>
          <p:cNvSpPr txBox="1"/>
          <p:nvPr/>
        </p:nvSpPr>
        <p:spPr>
          <a:xfrm>
            <a:off x="3623442" y="6217850"/>
            <a:ext cx="26704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Arial" panose="020B0604020202020204" pitchFamily="34" charset="0"/>
                <a:cs typeface="Arial" panose="020B0604020202020204" pitchFamily="34" charset="0"/>
              </a:rPr>
              <a:t>Lefranc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, Dev. Comp. Immunol. 2003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DBD7A-819A-044D-95C3-2F870305FFA7}"/>
              </a:ext>
            </a:extLst>
          </p:cNvPr>
          <p:cNvSpPr txBox="1"/>
          <p:nvPr/>
        </p:nvSpPr>
        <p:spPr>
          <a:xfrm>
            <a:off x="7644669" y="2311054"/>
            <a:ext cx="1931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﻿Kabat (Kabat,</a:t>
            </a:r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1991)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03D765-F1F7-8241-80F1-059D88E6243B}"/>
              </a:ext>
            </a:extLst>
          </p:cNvPr>
          <p:cNvSpPr txBox="1"/>
          <p:nvPr/>
        </p:nvSpPr>
        <p:spPr>
          <a:xfrm>
            <a:off x="7339869" y="2758858"/>
            <a:ext cx="2541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﻿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Chothia</a:t>
            </a:r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(Al-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Lazikani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, 1997)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3D19F8-9937-A748-99BB-B40461DC42C1}"/>
              </a:ext>
            </a:extLst>
          </p:cNvPr>
          <p:cNvSpPr txBox="1"/>
          <p:nvPr/>
        </p:nvSpPr>
        <p:spPr>
          <a:xfrm>
            <a:off x="7455067" y="3209790"/>
            <a:ext cx="2311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﻿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AHo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 (Honegger, 2001)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C5C30C-B418-8643-B548-007A1B64040B}"/>
              </a:ext>
            </a:extLst>
          </p:cNvPr>
          <p:cNvSpPr txBox="1"/>
          <p:nvPr/>
        </p:nvSpPr>
        <p:spPr>
          <a:xfrm>
            <a:off x="7644669" y="3703952"/>
            <a:ext cx="1931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IMGT (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Lefranc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, 2003)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0A31791-97F5-E243-84C7-A5D9E994DC6E}"/>
              </a:ext>
            </a:extLst>
          </p:cNvPr>
          <p:cNvCxnSpPr>
            <a:cxnSpLocks/>
          </p:cNvCxnSpPr>
          <p:nvPr/>
        </p:nvCxnSpPr>
        <p:spPr>
          <a:xfrm>
            <a:off x="8610599" y="3124387"/>
            <a:ext cx="0" cy="170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35EB7E7-7625-F149-8086-76DABF61B517}"/>
              </a:ext>
            </a:extLst>
          </p:cNvPr>
          <p:cNvCxnSpPr>
            <a:cxnSpLocks/>
          </p:cNvCxnSpPr>
          <p:nvPr/>
        </p:nvCxnSpPr>
        <p:spPr>
          <a:xfrm>
            <a:off x="8610599" y="2614367"/>
            <a:ext cx="0" cy="170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C99276D-7FEB-2C48-B48B-DD88A2743080}"/>
              </a:ext>
            </a:extLst>
          </p:cNvPr>
          <p:cNvCxnSpPr>
            <a:cxnSpLocks/>
          </p:cNvCxnSpPr>
          <p:nvPr/>
        </p:nvCxnSpPr>
        <p:spPr>
          <a:xfrm>
            <a:off x="8610599" y="3561658"/>
            <a:ext cx="0" cy="170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04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EB472-0590-A64A-9C81-28CBF50F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骆驼科动物的抗体种类</a:t>
            </a:r>
            <a:endParaRPr kumimoji="1"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BF3623-F26F-424F-B802-A01CB3DF6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155FC2-21A3-F244-BEC4-CE6892137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407" y="830510"/>
            <a:ext cx="6644126" cy="53404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9F6A8C-33C2-6C4E-BA80-50B56896FEE7}"/>
              </a:ext>
            </a:extLst>
          </p:cNvPr>
          <p:cNvSpPr txBox="1"/>
          <p:nvPr/>
        </p:nvSpPr>
        <p:spPr>
          <a:xfrm>
            <a:off x="2531407" y="6337853"/>
            <a:ext cx="8208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关于骆驼科的抗体分类，目前还是依赖特征位点进行人工区分，尚未有抗体分类的工具。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90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140C5-06D4-4F63-92F9-2D1518F7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骆驼科抗体分类工具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807D27-7CEB-48EB-AB63-A26B2191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B81269-933C-4020-8CB0-0F696F29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81" y="1160751"/>
            <a:ext cx="5619319" cy="44240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0F67ED-E071-49DB-94E6-7E48782EF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995" y="1512335"/>
            <a:ext cx="5965091" cy="37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49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6EB5C-05BA-6142-B324-864E377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数据来源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AB3DD3-4007-8449-B976-8C2E5DC4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B2AEA74-5373-9740-AAE4-57184BE9E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743512"/>
              </p:ext>
            </p:extLst>
          </p:nvPr>
        </p:nvGraphicFramePr>
        <p:xfrm>
          <a:off x="1223493" y="1384003"/>
          <a:ext cx="9513193" cy="486272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233596">
                  <a:extLst>
                    <a:ext uri="{9D8B030D-6E8A-4147-A177-3AD203B41FA5}">
                      <a16:colId xmlns:a16="http://schemas.microsoft.com/office/drawing/2014/main" val="611247503"/>
                    </a:ext>
                  </a:extLst>
                </a:gridCol>
                <a:gridCol w="1149618">
                  <a:extLst>
                    <a:ext uri="{9D8B030D-6E8A-4147-A177-3AD203B41FA5}">
                      <a16:colId xmlns:a16="http://schemas.microsoft.com/office/drawing/2014/main" val="3632056625"/>
                    </a:ext>
                  </a:extLst>
                </a:gridCol>
                <a:gridCol w="1426827">
                  <a:extLst>
                    <a:ext uri="{9D8B030D-6E8A-4147-A177-3AD203B41FA5}">
                      <a16:colId xmlns:a16="http://schemas.microsoft.com/office/drawing/2014/main" val="170765313"/>
                    </a:ext>
                  </a:extLst>
                </a:gridCol>
                <a:gridCol w="1295505">
                  <a:extLst>
                    <a:ext uri="{9D8B030D-6E8A-4147-A177-3AD203B41FA5}">
                      <a16:colId xmlns:a16="http://schemas.microsoft.com/office/drawing/2014/main" val="3456367941"/>
                    </a:ext>
                  </a:extLst>
                </a:gridCol>
                <a:gridCol w="3407647">
                  <a:extLst>
                    <a:ext uri="{9D8B030D-6E8A-4147-A177-3AD203B41FA5}">
                      <a16:colId xmlns:a16="http://schemas.microsoft.com/office/drawing/2014/main" val="1017450103"/>
                    </a:ext>
                  </a:extLst>
                </a:gridCol>
              </a:tblGrid>
              <a:tr h="3298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Species</a:t>
                      </a: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Molecule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Reference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3728212513"/>
                  </a:ext>
                </a:extLst>
              </a:tr>
              <a:tr h="3298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Hamers-Casterman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1993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98090481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Nguyen, 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3231797926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Hamers-Casterman, 1993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1090448515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Muyldermans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1994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1106102392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Nguyen, 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845943049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Harmsen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82541452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Vu, 1997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405160302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Harmsen, 2000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4112147839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Vu, 1997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4061484018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Vicugna pacos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Maass, 2007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1995930590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Vicugna pacos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Achour, 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40709860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Vicugna pacos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Maass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2007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3646150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958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E5CCB59-81DD-49A2-81B3-C32EA12B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19" y="1132706"/>
            <a:ext cx="5418494" cy="494093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03C02D8-DE97-4BCF-802C-BBAF79FA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骆驼科抗体分类工具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B6473-8B86-438A-9681-BC2D8238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FBDC37-2731-42B3-B1DB-642E13E6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87" y="1331792"/>
            <a:ext cx="6160698" cy="24833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45E45CA-3C98-7643-8B03-1A9921206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03" y="4374684"/>
            <a:ext cx="2565865" cy="24833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D2284A3-4F01-1F48-BD52-674525CD35F7}"/>
              </a:ext>
            </a:extLst>
          </p:cNvPr>
          <p:cNvSpPr txBox="1"/>
          <p:nvPr/>
        </p:nvSpPr>
        <p:spPr>
          <a:xfrm>
            <a:off x="543117" y="4284857"/>
            <a:ext cx="580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lang="zh-CN" altLang="en-US" sz="1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4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C02D8-DE97-4BCF-802C-BBAF79FA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骆驼科抗体分类工具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B6473-8B86-438A-9681-BC2D8238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F8B252-EAA6-4AF8-8281-ED644137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42" y="1880315"/>
            <a:ext cx="6097169" cy="33694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160D37A-F297-C141-B511-814D3FA08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794" y="1837731"/>
            <a:ext cx="4773807" cy="318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7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22E68-4B9F-DC4E-9D06-7D96BA37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3226D7-BB1A-4D30-808F-7E054429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E61662-D1B8-4C51-AAA5-E9736E43E1F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6343" y="1433527"/>
            <a:ext cx="944154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本研究所开发的抗体可变区分析工具运行时不依赖于参考序列库，便于使用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抗体可变区检测器未考虑长度异常的那些序列</a:t>
            </a:r>
            <a:r>
              <a:rPr lang="zh-CN" altLang="en-US" sz="1400" dirty="0">
                <a:cs typeface="Arial" panose="020B0604020202020204" pitchFamily="34" charset="0"/>
              </a:rPr>
              <a:t>（来自斑马鱼等物种），</a:t>
            </a:r>
            <a:r>
              <a:rPr lang="zh-CN" altLang="en-US" sz="2000" dirty="0">
                <a:cs typeface="Arial" panose="020B0604020202020204" pitchFamily="34" charset="0"/>
              </a:rPr>
              <a:t>工具可以拓展至这些序列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抗体可变区检测器的阴性数据集是随机序列，可能存在一定的不足，后续的升级版本可以考虑纳入其他蛋白的序列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抗体分类工具的训练特征可以进行延伸，不局限于先前发现的特征位点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重链抗体和传统抗体的特征位点比想象的要复杂，两者并没有绝对的界限，由此也提示对重链抗体的结构认识还存在不足，有待后续的深入研究</a:t>
            </a:r>
            <a:endParaRPr lang="en-US" altLang="zh-CN" sz="2000" dirty="0"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964095-518D-C143-A57E-E8064764ACEC}"/>
              </a:ext>
            </a:extLst>
          </p:cNvPr>
          <p:cNvSpPr txBox="1"/>
          <p:nvPr/>
        </p:nvSpPr>
        <p:spPr>
          <a:xfrm>
            <a:off x="3291116" y="5885941"/>
            <a:ext cx="478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(https:// 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github.com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yancylau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camelid_vtoolkit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9485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5150</TotalTime>
  <Words>601</Words>
  <Application>Microsoft Macintosh PowerPoint</Application>
  <PresentationFormat>宽屏</PresentationFormat>
  <Paragraphs>146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黑体</vt:lpstr>
      <vt:lpstr>Arial</vt:lpstr>
      <vt:lpstr>Calibri</vt:lpstr>
      <vt:lpstr>Calibri Light</vt:lpstr>
      <vt:lpstr>Times New Roman</vt:lpstr>
      <vt:lpstr>Wingdings</vt:lpstr>
      <vt:lpstr>Office 主题​​</vt:lpstr>
      <vt:lpstr>骆驼科抗体的生物信息学分析工具</vt:lpstr>
      <vt:lpstr>抗体的结构</vt:lpstr>
      <vt:lpstr>可变区的鉴定是抗体分析的前提</vt:lpstr>
      <vt:lpstr>抗体可变区分析工具综述</vt:lpstr>
      <vt:lpstr>可变区FR序列长度固定、氨基酸组成保守</vt:lpstr>
      <vt:lpstr>抗体可变区检测器</vt:lpstr>
      <vt:lpstr>抗体可变区检测器</vt:lpstr>
      <vt:lpstr>IMGT numbering Scheme</vt:lpstr>
      <vt:lpstr>骆驼科动物的抗体种类</vt:lpstr>
      <vt:lpstr>骆驼科抗体分类工具</vt:lpstr>
      <vt:lpstr>数据来源</vt:lpstr>
      <vt:lpstr>骆驼科抗体分类工具</vt:lpstr>
      <vt:lpstr>骆驼科抗体分类工具</vt:lpstr>
      <vt:lpstr>Data and code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LIUYX</dc:creator>
  <cp:lastModifiedBy>Yuexing Liu</cp:lastModifiedBy>
  <cp:revision>1017</cp:revision>
  <dcterms:created xsi:type="dcterms:W3CDTF">2021-11-02T13:27:11Z</dcterms:created>
  <dcterms:modified xsi:type="dcterms:W3CDTF">2022-06-07T02:57:42Z</dcterms:modified>
</cp:coreProperties>
</file>