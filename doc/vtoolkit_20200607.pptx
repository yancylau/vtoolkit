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90" r:id="rId1"/>
  </p:sldMasterIdLst>
  <p:notesMasterIdLst>
    <p:notesMasterId r:id="rId16"/>
  </p:notesMasterIdLst>
  <p:handoutMasterIdLst>
    <p:handoutMasterId r:id="rId17"/>
  </p:handoutMasterIdLst>
  <p:sldIdLst>
    <p:sldId id="2939" r:id="rId2"/>
    <p:sldId id="2940" r:id="rId3"/>
    <p:sldId id="2935" r:id="rId4"/>
    <p:sldId id="2931" r:id="rId5"/>
    <p:sldId id="275" r:id="rId6"/>
    <p:sldId id="2933" r:id="rId7"/>
    <p:sldId id="276" r:id="rId8"/>
    <p:sldId id="2941" r:id="rId9"/>
    <p:sldId id="2936" r:id="rId10"/>
    <p:sldId id="279" r:id="rId11"/>
    <p:sldId id="2937" r:id="rId12"/>
    <p:sldId id="278" r:id="rId13"/>
    <p:sldId id="2934" r:id="rId14"/>
    <p:sldId id="262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1378C"/>
    <a:srgbClr val="95C1AD"/>
    <a:srgbClr val="4472C4"/>
    <a:srgbClr val="1D4A90"/>
    <a:srgbClr val="2CA6E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中度样式 1 - 强调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F2DE63D5-997A-4646-A377-4702673A728D}" styleName="浅色样式 2 - 强调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BC89EF96-8CEA-46FF-86C4-4CE0E7609802}" styleName="浅色样式 3 - 强调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16D9F66E-5EB9-4882-86FB-DCBF35E3C3E4}" styleName="中度样式 4 - 强调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257" autoAdjust="0"/>
    <p:restoredTop sz="88163" autoAdjust="0"/>
  </p:normalViewPr>
  <p:slideViewPr>
    <p:cSldViewPr snapToGrid="0">
      <p:cViewPr varScale="1">
        <p:scale>
          <a:sx n="112" d="100"/>
          <a:sy n="112" d="100"/>
        </p:scale>
        <p:origin x="120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2" d="100"/>
          <a:sy n="82" d="100"/>
        </p:scale>
        <p:origin x="3352" y="16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27CADDDB-EFDF-E145-A5CC-A70D8079067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241FF93-9B5A-3046-86BE-660E05D918F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BD45E5-6E79-1747-B494-145D080566C2}" type="datetimeFigureOut">
              <a:rPr kumimoji="1" lang="zh-CN" altLang="en-US" smtClean="0"/>
              <a:t>2022/6/7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0C2A1D1-5929-704E-A6E3-ADD341CA79E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65013D8-7D1C-8B4B-9BE7-50C7B4788B2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6386A1-FB39-5B41-A9C1-1261B57E4AF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3521284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412BD2-0854-40BC-9B1E-34E0485095F1}" type="datetimeFigureOut">
              <a:rPr lang="zh-CN" altLang="en-US" smtClean="0"/>
              <a:t>2022/6/7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933C2D-FC7F-4240-8133-40A43216805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5231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典型的抗体结构呈</a:t>
            </a:r>
            <a:r>
              <a:rPr kumimoji="1" lang="en-US" altLang="zh-CN" dirty="0"/>
              <a:t>Y</a:t>
            </a:r>
            <a:r>
              <a:rPr kumimoji="1" lang="zh-CN" altLang="en-US" dirty="0"/>
              <a:t>型。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933C2D-FC7F-4240-8133-40A432168057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45815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933C2D-FC7F-4240-8133-40A432168057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20610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933C2D-FC7F-4240-8133-40A432168057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45357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933C2D-FC7F-4240-8133-40A432168057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180484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933C2D-FC7F-4240-8133-40A432168057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384100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933C2D-FC7F-4240-8133-40A432168057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69630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018AD8-FCA7-BC4D-9A56-F2AA590FDC8D}" type="datetime1">
              <a:rPr lang="zh-CN" altLang="en-US" smtClean="0"/>
              <a:t>2022/6/7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4A453A-D4C8-4A72-B25C-F15145F3C50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36821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85DEC-3458-8644-9E84-9A43E3CFD3BC}" type="datetime1">
              <a:rPr lang="zh-CN" altLang="en-US" smtClean="0"/>
              <a:t>2022/6/7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4A453A-D4C8-4A72-B25C-F15145F3C50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9103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2B032-B0BF-274A-A3AF-ABBFCF538123}" type="datetime1">
              <a:rPr lang="zh-CN" altLang="en-US" smtClean="0"/>
              <a:t>2022/6/7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4A453A-D4C8-4A72-B25C-F15145F3C50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01892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3EA45F-C0E2-8844-B169-C25B88B797E5}" type="datetime1">
              <a:rPr lang="zh-CN" altLang="en-US" smtClean="0"/>
              <a:t>2022/6/7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4A453A-D4C8-4A72-B25C-F15145F3C50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86415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99E2FD-BAD3-3442-92B4-0424623884D7}" type="datetime1">
              <a:rPr lang="zh-CN" altLang="en-US" smtClean="0"/>
              <a:t>2022/6/7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4A453A-D4C8-4A72-B25C-F15145F3C50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87654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A55306-4621-0048-954A-D1CBA9A19102}" type="datetime1">
              <a:rPr lang="zh-CN" altLang="en-US" smtClean="0"/>
              <a:t>2022/6/7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4A453A-D4C8-4A72-B25C-F15145F3C50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02828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E72B2-E00E-9146-AD78-B8386A13A954}" type="datetime1">
              <a:rPr lang="zh-CN" altLang="en-US" smtClean="0"/>
              <a:t>2022/6/7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4A453A-D4C8-4A72-B25C-F15145F3C50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51315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6BB56-3124-3343-91B9-6FBDACBAEA7C}" type="datetime1">
              <a:rPr lang="zh-CN" altLang="en-US" smtClean="0"/>
              <a:t>2022/6/7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4A453A-D4C8-4A72-B25C-F15145F3C50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43563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3A3BA-192E-1041-AEB1-C273B37EF56E}" type="datetime1">
              <a:rPr lang="zh-CN" altLang="en-US" smtClean="0"/>
              <a:t>2022/6/7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4A453A-D4C8-4A72-B25C-F15145F3C50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00253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45DB3-B9F2-D541-B7E2-1F0BF0994A75}" type="datetime1">
              <a:rPr lang="zh-CN" altLang="en-US" smtClean="0"/>
              <a:t>2022/6/7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4A453A-D4C8-4A72-B25C-F15145F3C50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98678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C77D1-64C6-674D-943A-4BDF2EF83DC0}" type="datetime1">
              <a:rPr lang="zh-CN" altLang="en-US" smtClean="0"/>
              <a:t>2022/6/7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4A453A-D4C8-4A72-B25C-F15145F3C50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371055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-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4133D2D-AA44-4D30-BBCD-85923E087B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33625" y="103217"/>
            <a:ext cx="7655621" cy="758825"/>
          </a:xfrm>
        </p:spPr>
        <p:txBody>
          <a:bodyPr>
            <a:normAutofit/>
          </a:bodyPr>
          <a:lstStyle>
            <a:lvl1pPr algn="ctr">
              <a:defRPr sz="2800" baseline="0">
                <a:latin typeface="Arial" panose="020B0604020202020204" pitchFamily="34" charset="0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37394F3-282E-4A42-AD89-D82DB0E57A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F6E718-8934-B343-9ECF-9668A34155A3}" type="datetime1">
              <a:rPr lang="zh-CN" altLang="en-US" smtClean="0"/>
              <a:t>2022/6/7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7A69FCC-2D3D-4480-B836-012C81F6E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8D7C091-236D-47FC-AC51-D9E707C099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4A453A-D4C8-4A72-B25C-F15145F3C50D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35D5B3E0-9D45-4E3F-8D8B-AD756A777380}"/>
              </a:ext>
            </a:extLst>
          </p:cNvPr>
          <p:cNvCxnSpPr>
            <a:cxnSpLocks/>
          </p:cNvCxnSpPr>
          <p:nvPr userDrawn="1"/>
        </p:nvCxnSpPr>
        <p:spPr>
          <a:xfrm>
            <a:off x="961292" y="775853"/>
            <a:ext cx="10492154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29">
            <a:extLst>
              <a:ext uri="{FF2B5EF4-FFF2-40B4-BE49-F238E27FC236}">
                <a16:creationId xmlns:a16="http://schemas.microsoft.com/office/drawing/2014/main" id="{C0EA3ACB-242A-4D42-BC7B-3AE2C7ECD417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34433" y="170392"/>
            <a:ext cx="97367" cy="575733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/>
          </a:p>
        </p:txBody>
      </p:sp>
      <p:sp>
        <p:nvSpPr>
          <p:cNvPr id="16" name="Rectangle 30">
            <a:extLst>
              <a:ext uri="{FF2B5EF4-FFF2-40B4-BE49-F238E27FC236}">
                <a16:creationId xmlns:a16="http://schemas.microsoft.com/office/drawing/2014/main" id="{19A4A4DC-7124-4B0F-8FF7-A7E602AB512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170392"/>
            <a:ext cx="334433" cy="575733"/>
          </a:xfrm>
          <a:prstGeom prst="rect">
            <a:avLst/>
          </a:prstGeom>
          <a:solidFill>
            <a:srgbClr val="4472C4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>
              <a:solidFill>
                <a:srgbClr val="1D4A9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65381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7127B6-02E2-A74B-8689-BCEB5E89BA66}" type="datetime1">
              <a:rPr lang="zh-CN" altLang="en-US" smtClean="0"/>
              <a:t>2022/6/7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4A453A-D4C8-4A72-B25C-F15145F3C50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68448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ADF71F2F-5FE8-2B42-BBE4-A7522F991E0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骆驼科抗体的生物信息学分析工具</a:t>
            </a:r>
            <a:endParaRPr lang="zh-CN" altLang="en-US" dirty="0"/>
          </a:p>
        </p:txBody>
      </p:sp>
      <p:sp>
        <p:nvSpPr>
          <p:cNvPr id="6" name="副标题 5">
            <a:extLst>
              <a:ext uri="{FF2B5EF4-FFF2-40B4-BE49-F238E27FC236}">
                <a16:creationId xmlns:a16="http://schemas.microsoft.com/office/drawing/2014/main" id="{23B09446-B4E0-8F49-8754-DFB9D2456B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209142"/>
            <a:ext cx="9144000" cy="1048657"/>
          </a:xfrm>
        </p:spPr>
        <p:txBody>
          <a:bodyPr/>
          <a:lstStyle/>
          <a:p>
            <a:r>
              <a:rPr lang="zh-CN" altLang="en-US" dirty="0">
                <a:cs typeface="Arial" panose="020B0604020202020204" pitchFamily="34" charset="0"/>
              </a:rPr>
              <a:t>刘月星</a:t>
            </a:r>
            <a:endParaRPr lang="en-US" altLang="zh-CN" dirty="0">
              <a:cs typeface="Arial" panose="020B0604020202020204" pitchFamily="34" charset="0"/>
            </a:endParaRPr>
          </a:p>
          <a:p>
            <a:r>
              <a:rPr lang="en-US" altLang="zh-CN" dirty="0">
                <a:cs typeface="Arial" panose="020B0604020202020204" pitchFamily="34" charset="0"/>
              </a:rPr>
              <a:t>2022.6.7</a:t>
            </a:r>
          </a:p>
        </p:txBody>
      </p:sp>
    </p:spTree>
    <p:extLst>
      <p:ext uri="{BB962C8B-B14F-4D97-AF65-F5344CB8AC3E}">
        <p14:creationId xmlns:p14="http://schemas.microsoft.com/office/powerpoint/2010/main" val="3726480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A4E781FA-69DB-EC4B-AF46-591A24907B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6642" y="862042"/>
            <a:ext cx="3643044" cy="3527225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629473E2-84E4-8544-A5AF-43BDCE733D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28457" y="1717772"/>
            <a:ext cx="5525343" cy="2031540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99B99A32-5AF1-4740-9CF0-C7B9782FE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抗体的结构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CFA9B12C-9C26-9F44-8FC7-4603943372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4A453A-D4C8-4A72-B25C-F15145F3C50D}" type="slidenum">
              <a:rPr lang="zh-CN" altLang="en-US" smtClean="0"/>
              <a:t>2</a:t>
            </a:fld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04470DF-3771-1446-8204-B725CD6B6FC8}"/>
              </a:ext>
            </a:extLst>
          </p:cNvPr>
          <p:cNvSpPr txBox="1"/>
          <p:nvPr/>
        </p:nvSpPr>
        <p:spPr>
          <a:xfrm>
            <a:off x="517455" y="3244334"/>
            <a:ext cx="22383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（</a:t>
            </a:r>
            <a:r>
              <a:rPr kumimoji="1" lang="en-US" altLang="zh-CN" dirty="0"/>
              <a:t>IgG</a:t>
            </a:r>
            <a:r>
              <a:rPr kumimoji="1" lang="zh-CN" altLang="en-US" dirty="0"/>
              <a:t>抗体的结构</a:t>
            </a:r>
            <a:r>
              <a:rPr lang="zh-CN" altLang="en-US" dirty="0"/>
              <a:t>）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64F81F9-9B27-9941-93BD-D5E16E1DF97C}"/>
              </a:ext>
            </a:extLst>
          </p:cNvPr>
          <p:cNvSpPr txBox="1"/>
          <p:nvPr/>
        </p:nvSpPr>
        <p:spPr>
          <a:xfrm>
            <a:off x="7556532" y="3898363"/>
            <a:ext cx="20691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dirty="0"/>
              <a:t>抗体的编码基因</a:t>
            </a:r>
            <a:endParaRPr lang="zh-CN" altLang="en-US" dirty="0"/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F890CD51-BF23-4342-9C7D-DCA265D5F28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45387" y="4529459"/>
            <a:ext cx="3406630" cy="1748061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7F2AFBB3-2C58-5246-8E04-17FB8E2A0868}"/>
              </a:ext>
            </a:extLst>
          </p:cNvPr>
          <p:cNvSpPr txBox="1"/>
          <p:nvPr/>
        </p:nvSpPr>
        <p:spPr>
          <a:xfrm>
            <a:off x="4277102" y="6298100"/>
            <a:ext cx="2743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CN" altLang="en-US" dirty="0"/>
              <a:t>同种型（</a:t>
            </a:r>
            <a:r>
              <a:rPr kumimoji="1" lang="en-US" altLang="zh-CN" dirty="0"/>
              <a:t>Isotypes,</a:t>
            </a:r>
            <a:r>
              <a:rPr kumimoji="1" lang="zh-CN" altLang="en-US" dirty="0"/>
              <a:t> 种类）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488516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D69FCED-D610-A542-8781-2941E4F468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黑体" panose="02010609060101010101" pitchFamily="49" charset="-122"/>
              </a:rPr>
              <a:t>可变区的鉴定是抗体分析的前提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EAA4F8C-DC36-2C44-B5CF-72832AA907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4A453A-D4C8-4A72-B25C-F15145F3C50D}" type="slidenum">
              <a:rPr lang="zh-CN" altLang="en-US" smtClean="0"/>
              <a:t>3</a:t>
            </a:fld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108C8DD6-217C-DB4F-ACFD-A12F172D5B3F}"/>
              </a:ext>
            </a:extLst>
          </p:cNvPr>
          <p:cNvSpPr txBox="1"/>
          <p:nvPr/>
        </p:nvSpPr>
        <p:spPr>
          <a:xfrm>
            <a:off x="1699062" y="5556131"/>
            <a:ext cx="8283138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可变区在抗原的结合中起着关键作用，其多样性直接影响抗体结合抗原的种类。</a:t>
            </a:r>
            <a:endParaRPr lang="en-US" altLang="zh-CN" sz="18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可变区的鉴定是抗体分析的前提，对于免疫学研究和抗体工程具重要意义。</a:t>
            </a:r>
            <a:endParaRPr lang="en-US" altLang="zh-CN" sz="18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5CE0CECF-8B10-F540-8113-77505E19AC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0100" y="1425823"/>
            <a:ext cx="4457700" cy="2565400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5FC21B13-C0E4-164A-98D0-327CCE384A16}"/>
              </a:ext>
            </a:extLst>
          </p:cNvPr>
          <p:cNvSpPr txBox="1"/>
          <p:nvPr/>
        </p:nvSpPr>
        <p:spPr>
          <a:xfrm>
            <a:off x="3055514" y="4297239"/>
            <a:ext cx="555508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1600" b="1" dirty="0"/>
              <a:t>抗体的可变区（</a:t>
            </a:r>
            <a:r>
              <a:rPr kumimoji="1" lang="en-US" altLang="zh-CN" sz="1600" b="1" dirty="0"/>
              <a:t>Variable</a:t>
            </a:r>
            <a:r>
              <a:rPr kumimoji="1" lang="zh-CN" altLang="en-US" sz="1600" b="1" dirty="0"/>
              <a:t> </a:t>
            </a:r>
            <a:r>
              <a:rPr kumimoji="1" lang="en-US" altLang="zh-CN" sz="1600" b="1" dirty="0"/>
              <a:t>region,</a:t>
            </a:r>
            <a:r>
              <a:rPr kumimoji="1" lang="zh-CN" altLang="en-US" sz="1600" b="1" dirty="0"/>
              <a:t> </a:t>
            </a:r>
            <a:r>
              <a:rPr kumimoji="1" lang="en-US" altLang="zh-CN" sz="1600" b="1" dirty="0"/>
              <a:t>V</a:t>
            </a:r>
            <a:r>
              <a:rPr kumimoji="1" lang="zh-CN" altLang="en-US" sz="1600" b="1" dirty="0"/>
              <a:t>区）是识别抗原的主要部位</a:t>
            </a:r>
            <a:endParaRPr lang="zh-CN" altLang="en-US" sz="1600" b="1" dirty="0"/>
          </a:p>
        </p:txBody>
      </p:sp>
    </p:spTree>
    <p:extLst>
      <p:ext uri="{BB962C8B-B14F-4D97-AF65-F5344CB8AC3E}">
        <p14:creationId xmlns:p14="http://schemas.microsoft.com/office/powerpoint/2010/main" val="22419875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33A180-8495-42AC-BA15-0188FE3EA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zh-CN" altLang="en-US" sz="2800" dirty="0"/>
              <a:t>抗体可变区分析工具综述</a:t>
            </a:r>
          </a:p>
        </p:txBody>
      </p:sp>
      <p:sp>
        <p:nvSpPr>
          <p:cNvPr id="14" name="灯片编号占位符 13">
            <a:extLst>
              <a:ext uri="{FF2B5EF4-FFF2-40B4-BE49-F238E27FC236}">
                <a16:creationId xmlns:a16="http://schemas.microsoft.com/office/drawing/2014/main" id="{82722902-DEB9-4DB1-B8E3-EA7BC90C95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4A453A-D4C8-4A72-B25C-F15145F3C50D}" type="slidenum">
              <a:rPr lang="zh-CN" altLang="en-US" smtClean="0"/>
              <a:t>4</a:t>
            </a:fld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DAD846E-6939-4BAA-B4C9-AC4DE4F7A0E6}"/>
              </a:ext>
            </a:extLst>
          </p:cNvPr>
          <p:cNvSpPr txBox="1"/>
          <p:nvPr/>
        </p:nvSpPr>
        <p:spPr>
          <a:xfrm>
            <a:off x="3250934" y="5960181"/>
            <a:ext cx="547684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600" dirty="0">
                <a:latin typeface="黑体" panose="02010609060101010101" pitchFamily="49" charset="-122"/>
                <a:ea typeface="黑体" panose="02010609060101010101" pitchFamily="49" charset="-122"/>
              </a:rPr>
              <a:t>抗体分析工具大多是基于序列比对，依赖参考基于数据库</a:t>
            </a:r>
            <a:endParaRPr lang="en-US" altLang="zh-CN" sz="16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82751A14-33E7-4011-986F-CA0FDB3A37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4223340"/>
              </p:ext>
            </p:extLst>
          </p:nvPr>
        </p:nvGraphicFramePr>
        <p:xfrm>
          <a:off x="2031281" y="1707315"/>
          <a:ext cx="8641266" cy="3746147"/>
        </p:xfrm>
        <a:graphic>
          <a:graphicData uri="http://schemas.openxmlformats.org/drawingml/2006/table">
            <a:tbl>
              <a:tblPr firstRow="1" firstCol="1" bandRow="1">
                <a:tableStyleId>{7DF18680-E054-41AD-8BC1-D1AEF772440D}</a:tableStyleId>
              </a:tblPr>
              <a:tblGrid>
                <a:gridCol w="2166037">
                  <a:extLst>
                    <a:ext uri="{9D8B030D-6E8A-4147-A177-3AD203B41FA5}">
                      <a16:colId xmlns:a16="http://schemas.microsoft.com/office/drawing/2014/main" val="611247503"/>
                    </a:ext>
                  </a:extLst>
                </a:gridCol>
                <a:gridCol w="4189033">
                  <a:extLst>
                    <a:ext uri="{9D8B030D-6E8A-4147-A177-3AD203B41FA5}">
                      <a16:colId xmlns:a16="http://schemas.microsoft.com/office/drawing/2014/main" val="3632056625"/>
                    </a:ext>
                  </a:extLst>
                </a:gridCol>
                <a:gridCol w="2286196">
                  <a:extLst>
                    <a:ext uri="{9D8B030D-6E8A-4147-A177-3AD203B41FA5}">
                      <a16:colId xmlns:a16="http://schemas.microsoft.com/office/drawing/2014/main" val="1017450103"/>
                    </a:ext>
                  </a:extLst>
                </a:gridCol>
              </a:tblGrid>
              <a:tr h="411409">
                <a:tc>
                  <a:txBody>
                    <a:bodyPr/>
                    <a:lstStyle/>
                    <a:p>
                      <a:pPr algn="l" fontAlgn="b"/>
                      <a:r>
                        <a:rPr lang="en-US" sz="15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Name</a:t>
                      </a:r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0102" marR="10102" marT="10102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5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Functionality</a:t>
                      </a:r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0102" marR="10102" marT="10102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5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Reference</a:t>
                      </a:r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0102" marR="10102" marT="10102" marB="0" anchor="ctr"/>
                </a:tc>
                <a:extLst>
                  <a:ext uri="{0D108BD9-81ED-4DB2-BD59-A6C34878D82A}">
                    <a16:rowId xmlns:a16="http://schemas.microsoft.com/office/drawing/2014/main" val="2980904815"/>
                  </a:ext>
                </a:extLst>
              </a:tr>
              <a:tr h="462347">
                <a:tc>
                  <a:txBody>
                    <a:bodyPr/>
                    <a:lstStyle/>
                    <a:p>
                      <a:pPr algn="l" fontAlgn="b"/>
                      <a:r>
                        <a:rPr lang="en-US" sz="15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IMGT/V-QUEST</a:t>
                      </a:r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0102" marR="10102" marT="10102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5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 regions and subregions identification and Numbering</a:t>
                      </a:r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0102" marR="10102" marT="10102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800" b="0" i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Giudicelli</a:t>
                      </a:r>
                      <a:r>
                        <a:rPr lang="en-US" altLang="zh-CN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</a:t>
                      </a:r>
                      <a:r>
                        <a:rPr lang="zh-CN" altLang="en-US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zh-CN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et</a:t>
                      </a:r>
                      <a:r>
                        <a:rPr lang="zh-CN" altLang="en-US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zh-CN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al.,</a:t>
                      </a:r>
                      <a:r>
                        <a:rPr lang="zh-CN" altLang="en-US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zh-CN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2011</a:t>
                      </a:r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0102" marR="10102" marT="10102" marB="0" anchor="ctr"/>
                </a:tc>
                <a:extLst>
                  <a:ext uri="{0D108BD9-81ED-4DB2-BD59-A6C34878D82A}">
                    <a16:rowId xmlns:a16="http://schemas.microsoft.com/office/drawing/2014/main" val="3231797926"/>
                  </a:ext>
                </a:extLst>
              </a:tr>
              <a:tr h="477906">
                <a:tc>
                  <a:txBody>
                    <a:bodyPr/>
                    <a:lstStyle/>
                    <a:p>
                      <a:pPr algn="l" fontAlgn="b"/>
                      <a:r>
                        <a:rPr lang="en-US" sz="15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IGBLAST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0102" marR="10102" marT="10102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5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 regions and subregions identification</a:t>
                      </a:r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0102" marR="10102" marT="10102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5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Ye,</a:t>
                      </a:r>
                      <a:r>
                        <a:rPr lang="zh-CN" altLang="en-US" sz="15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CN" sz="15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et</a:t>
                      </a:r>
                      <a:r>
                        <a:rPr lang="zh-CN" altLang="en-US" sz="15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CN" sz="15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al.,</a:t>
                      </a:r>
                      <a:r>
                        <a:rPr lang="zh-CN" altLang="en-US" sz="15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CN" sz="15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2013</a:t>
                      </a:r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0102" marR="10102" marT="10102" marB="0" anchor="ctr"/>
                </a:tc>
                <a:extLst>
                  <a:ext uri="{0D108BD9-81ED-4DB2-BD59-A6C34878D82A}">
                    <a16:rowId xmlns:a16="http://schemas.microsoft.com/office/drawing/2014/main" val="1090448515"/>
                  </a:ext>
                </a:extLst>
              </a:tr>
              <a:tr h="477906">
                <a:tc>
                  <a:txBody>
                    <a:bodyPr/>
                    <a:lstStyle/>
                    <a:p>
                      <a:pPr algn="l" fontAlgn="b"/>
                      <a:r>
                        <a:rPr lang="en-US" sz="1500" u="none" strike="noStrike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IgDiscover</a:t>
                      </a:r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0102" marR="10102" marT="10102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5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 regions and subregions identification</a:t>
                      </a:r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0102" marR="10102" marT="10102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5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Corcoran,</a:t>
                      </a:r>
                      <a:r>
                        <a:rPr lang="zh-CN" altLang="en-US" sz="15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CN" sz="15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et</a:t>
                      </a:r>
                      <a:r>
                        <a:rPr lang="zh-CN" altLang="en-US" sz="15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CN" sz="15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at.,</a:t>
                      </a:r>
                      <a:r>
                        <a:rPr lang="zh-CN" altLang="en-US" sz="15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CN" sz="15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2016</a:t>
                      </a:r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0102" marR="10102" marT="10102" marB="0" anchor="ctr"/>
                </a:tc>
                <a:extLst>
                  <a:ext uri="{0D108BD9-81ED-4DB2-BD59-A6C34878D82A}">
                    <a16:rowId xmlns:a16="http://schemas.microsoft.com/office/drawing/2014/main" val="1106102392"/>
                  </a:ext>
                </a:extLst>
              </a:tr>
              <a:tr h="477906">
                <a:tc>
                  <a:txBody>
                    <a:bodyPr/>
                    <a:lstStyle/>
                    <a:p>
                      <a:pPr algn="l" fontAlgn="b"/>
                      <a:r>
                        <a:rPr lang="en-US" sz="15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ANARCI</a:t>
                      </a:r>
                      <a:endParaRPr lang="en-US" sz="15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0102" marR="10102" marT="10102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5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Numbering (IMGT, Kabat, </a:t>
                      </a:r>
                      <a:r>
                        <a:rPr lang="en-US" sz="1500" u="none" strike="noStrike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Chothia</a:t>
                      </a:r>
                      <a:r>
                        <a:rPr lang="en-US" sz="15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Martin)</a:t>
                      </a:r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0102" marR="10102" marT="10102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5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﻿Dunbar</a:t>
                      </a:r>
                      <a:r>
                        <a:rPr lang="zh-CN" altLang="en-US" sz="15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CN" sz="15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et.</a:t>
                      </a:r>
                      <a:r>
                        <a:rPr lang="zh-CN" altLang="en-US" sz="15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CN" sz="15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Al.,</a:t>
                      </a:r>
                      <a:r>
                        <a:rPr lang="zh-CN" altLang="en-US" sz="15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CN" sz="15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2016</a:t>
                      </a:r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0102" marR="10102" marT="10102" marB="0" anchor="ctr"/>
                </a:tc>
                <a:extLst>
                  <a:ext uri="{0D108BD9-81ED-4DB2-BD59-A6C34878D82A}">
                    <a16:rowId xmlns:a16="http://schemas.microsoft.com/office/drawing/2014/main" val="2845943049"/>
                  </a:ext>
                </a:extLst>
              </a:tr>
              <a:tr h="477906">
                <a:tc>
                  <a:txBody>
                    <a:bodyPr/>
                    <a:lstStyle/>
                    <a:p>
                      <a:pPr algn="l" fontAlgn="b"/>
                      <a:r>
                        <a:rPr lang="en-US" sz="15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MOE</a:t>
                      </a:r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0102" marR="10102" marT="10102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5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Numbering</a:t>
                      </a:r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0102" marR="10102" marT="10102" marB="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0102" marR="10102" marT="10102" marB="0" anchor="ctr"/>
                </a:tc>
                <a:extLst>
                  <a:ext uri="{0D108BD9-81ED-4DB2-BD59-A6C34878D82A}">
                    <a16:rowId xmlns:a16="http://schemas.microsoft.com/office/drawing/2014/main" val="282541452"/>
                  </a:ext>
                </a:extLst>
              </a:tr>
              <a:tr h="477906">
                <a:tc>
                  <a:txBody>
                    <a:bodyPr/>
                    <a:lstStyle/>
                    <a:p>
                      <a:pPr algn="l" fontAlgn="b"/>
                      <a:r>
                        <a:rPr lang="en-US" sz="1500" u="none" strike="noStrike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abYsis</a:t>
                      </a:r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0102" marR="10102" marT="10102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5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Numbering</a:t>
                      </a:r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0102" marR="10102" marT="10102" marB="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  <a:cs typeface="Arial" panose="020B0604020202020204" pitchFamily="34" charset="0"/>
                        </a:rPr>
                        <a:t>Swindell</a:t>
                      </a:r>
                      <a:r>
                        <a:rPr lang="en-US" altLang="zh-CN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  <a:cs typeface="Arial" panose="020B0604020202020204" pitchFamily="34" charset="0"/>
                        </a:rPr>
                        <a:t>,</a:t>
                      </a:r>
                      <a:r>
                        <a:rPr lang="zh-CN" altLang="en-US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CN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  <a:cs typeface="Arial" panose="020B0604020202020204" pitchFamily="34" charset="0"/>
                        </a:rPr>
                        <a:t>2017</a:t>
                      </a:r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0102" marR="10102" marT="10102" marB="0" anchor="ctr"/>
                </a:tc>
                <a:extLst>
                  <a:ext uri="{0D108BD9-81ED-4DB2-BD59-A6C34878D82A}">
                    <a16:rowId xmlns:a16="http://schemas.microsoft.com/office/drawing/2014/main" val="405160302"/>
                  </a:ext>
                </a:extLst>
              </a:tr>
              <a:tr h="477906">
                <a:tc>
                  <a:txBody>
                    <a:bodyPr/>
                    <a:lstStyle/>
                    <a:p>
                      <a:pPr algn="l" fontAlgn="b"/>
                      <a:r>
                        <a:rPr lang="en-US" sz="15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abnum3</a:t>
                      </a:r>
                      <a:endParaRPr lang="en-US" sz="1500" b="0" i="0" u="none" strike="noStrike" dirty="0">
                        <a:solidFill>
                          <a:srgbClr val="333333"/>
                        </a:solidFill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0102" marR="10102" marT="10102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5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Numbering (Kabat, </a:t>
                      </a:r>
                      <a:r>
                        <a:rPr lang="en-US" sz="1500" u="none" strike="noStrike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Chothia</a:t>
                      </a:r>
                      <a:r>
                        <a:rPr lang="en-US" sz="15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Martin)</a:t>
                      </a:r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0102" marR="10102" marT="10102" marB="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en-US" sz="1500" b="0" i="0" u="none" strike="noStrike" dirty="0">
                        <a:solidFill>
                          <a:srgbClr val="333333"/>
                        </a:solidFill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0102" marR="10102" marT="10102" marB="0" anchor="ctr"/>
                </a:tc>
                <a:extLst>
                  <a:ext uri="{0D108BD9-81ED-4DB2-BD59-A6C34878D82A}">
                    <a16:rowId xmlns:a16="http://schemas.microsoft.com/office/drawing/2014/main" val="41121478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342489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41F56B3-BF33-43E1-81E6-F23F9A8A1A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可变区</a:t>
            </a:r>
            <a:r>
              <a:rPr lang="en-US" altLang="zh-CN" dirty="0"/>
              <a:t>FR</a:t>
            </a:r>
            <a:r>
              <a:rPr lang="zh-CN" altLang="en-US" dirty="0"/>
              <a:t>序列长度固定、氨基酸组成保守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F6B20F4-D553-4E69-8847-C369A1E211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4A453A-D4C8-4A72-B25C-F15145F3C50D}" type="slidenum">
              <a:rPr lang="zh-CN" altLang="en-US" smtClean="0"/>
              <a:t>5</a:t>
            </a:fld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96277ED9-4E34-4703-AF12-F67B4856FDC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0564" r="20841" b="45243"/>
          <a:stretch/>
        </p:blipFill>
        <p:spPr>
          <a:xfrm>
            <a:off x="4622150" y="937915"/>
            <a:ext cx="4335291" cy="2880303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7B64B8C0-6A17-4110-8411-53326506080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54474" r="7730"/>
          <a:stretch/>
        </p:blipFill>
        <p:spPr>
          <a:xfrm>
            <a:off x="3387257" y="3894091"/>
            <a:ext cx="7655621" cy="2685479"/>
          </a:xfrm>
          <a:prstGeom prst="rect">
            <a:avLst/>
          </a:prstGeom>
        </p:spPr>
      </p:pic>
      <p:pic>
        <p:nvPicPr>
          <p:cNvPr id="1026" name="Picture 2" descr="logo IMGT">
            <a:extLst>
              <a:ext uri="{FF2B5EF4-FFF2-40B4-BE49-F238E27FC236}">
                <a16:creationId xmlns:a16="http://schemas.microsoft.com/office/drawing/2014/main" id="{CA1D5862-2792-4527-8343-A8392B68A2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0791" y="3208618"/>
            <a:ext cx="1438275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7F1C9F2C-9ACF-4C6E-B951-73D90906CB5E}"/>
              </a:ext>
            </a:extLst>
          </p:cNvPr>
          <p:cNvSpPr txBox="1"/>
          <p:nvPr/>
        </p:nvSpPr>
        <p:spPr>
          <a:xfrm>
            <a:off x="547966" y="4512725"/>
            <a:ext cx="233121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latin typeface="Arial" panose="020B0604020202020204" pitchFamily="34" charset="0"/>
                <a:cs typeface="Arial" panose="020B0604020202020204" pitchFamily="34" charset="0"/>
              </a:rPr>
              <a:t>国际免疫遗传学数据库</a:t>
            </a:r>
            <a:endParaRPr lang="en-US" altLang="zh-CN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zh-CN" altLang="en-US" sz="1200" dirty="0">
                <a:latin typeface="Arial" panose="020B0604020202020204" pitchFamily="34" charset="0"/>
                <a:cs typeface="Arial" panose="020B0604020202020204" pitchFamily="34" charset="0"/>
              </a:rPr>
              <a:t>（</a:t>
            </a:r>
            <a:r>
              <a:rPr lang="en-US" altLang="zh-CN" sz="1200" dirty="0">
                <a:latin typeface="Arial" panose="020B0604020202020204" pitchFamily="34" charset="0"/>
                <a:cs typeface="Arial" panose="020B0604020202020204" pitchFamily="34" charset="0"/>
              </a:rPr>
              <a:t>International </a:t>
            </a:r>
            <a:r>
              <a:rPr lang="en-US" altLang="zh-CN" sz="1200" dirty="0" err="1">
                <a:latin typeface="Arial" panose="020B0604020202020204" pitchFamily="34" charset="0"/>
                <a:cs typeface="Arial" panose="020B0604020202020204" pitchFamily="34" charset="0"/>
              </a:rPr>
              <a:t>ImMunoGeneTics</a:t>
            </a:r>
            <a:r>
              <a:rPr lang="en-US" altLang="zh-CN" sz="1200" dirty="0">
                <a:latin typeface="Arial" panose="020B0604020202020204" pitchFamily="34" charset="0"/>
                <a:cs typeface="Arial" panose="020B0604020202020204" pitchFamily="34" charset="0"/>
              </a:rPr>
              <a:t> Information System, IMGT</a:t>
            </a:r>
            <a:r>
              <a:rPr lang="zh-CN" altLang="en-US" sz="1200" dirty="0">
                <a:latin typeface="Arial" panose="020B0604020202020204" pitchFamily="34" charset="0"/>
                <a:cs typeface="Arial" panose="020B0604020202020204" pitchFamily="34" charset="0"/>
              </a:rPr>
              <a:t>）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1848C855-AA57-EE43-9171-45D8CCA835D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9366" y="1290317"/>
            <a:ext cx="2908073" cy="1673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6401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41F56B3-BF33-43E1-81E6-F23F9A8A1A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抗体可变区检测器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F6B20F4-D553-4E69-8847-C369A1E211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4A453A-D4C8-4A72-B25C-F15145F3C50D}" type="slidenum">
              <a:rPr lang="zh-CN" altLang="en-US" smtClean="0"/>
              <a:t>6</a:t>
            </a:fld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279F98E-F6EB-4B68-A0DF-DBE415EFEA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278" y="1839532"/>
            <a:ext cx="6684847" cy="3609662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3EA0470D-F470-422B-8742-1BBAF4713B03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3136"/>
          <a:stretch/>
        </p:blipFill>
        <p:spPr>
          <a:xfrm>
            <a:off x="7010308" y="1564068"/>
            <a:ext cx="4823242" cy="4586524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0A48952A-E28F-0B45-802F-DCA4DB221EA3}"/>
              </a:ext>
            </a:extLst>
          </p:cNvPr>
          <p:cNvSpPr txBox="1"/>
          <p:nvPr/>
        </p:nvSpPr>
        <p:spPr>
          <a:xfrm>
            <a:off x="631906" y="5684261"/>
            <a:ext cx="578959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Build</a:t>
            </a:r>
            <a:r>
              <a:rPr lang="zh-CN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V</a:t>
            </a:r>
            <a:r>
              <a:rPr lang="zh-CN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region</a:t>
            </a:r>
            <a:r>
              <a:rPr lang="zh-CN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detector</a:t>
            </a:r>
            <a:r>
              <a:rPr lang="zh-CN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(V</a:t>
            </a:r>
            <a:r>
              <a:rPr lang="zh-CN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detector)</a:t>
            </a:r>
            <a:r>
              <a:rPr lang="zh-CN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with</a:t>
            </a:r>
            <a:r>
              <a:rPr lang="zh-CN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Naïve</a:t>
            </a:r>
            <a:r>
              <a:rPr lang="zh-CN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Bayes</a:t>
            </a:r>
            <a:r>
              <a:rPr lang="zh-CN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Classifier</a:t>
            </a:r>
            <a:endParaRPr lang="zh-CN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67957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D582B4C-95C1-4213-A707-0068468CD8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抗体可变区检测器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2249E37-35B8-45EB-8D4B-2C38D01EA9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4A453A-D4C8-4A72-B25C-F15145F3C50D}" type="slidenum">
              <a:rPr lang="zh-CN" altLang="en-US" smtClean="0"/>
              <a:t>7</a:t>
            </a:fld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D25B6894-09D2-4C0A-A58E-56C10C0936F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5234"/>
          <a:stretch/>
        </p:blipFill>
        <p:spPr>
          <a:xfrm>
            <a:off x="8340090" y="3415311"/>
            <a:ext cx="3013710" cy="2817214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C7DF0EF8-3BA3-432C-B82C-E18144D7611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49816"/>
          <a:stretch/>
        </p:blipFill>
        <p:spPr>
          <a:xfrm>
            <a:off x="7865787" y="985867"/>
            <a:ext cx="3378463" cy="2817214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06078034-5ED0-432F-BACD-67AEAC0D344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00" t="12615" r="11163" b="43311"/>
          <a:stretch/>
        </p:blipFill>
        <p:spPr>
          <a:xfrm>
            <a:off x="577013" y="985867"/>
            <a:ext cx="6931372" cy="5319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22998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99AAD9A-A98E-A94E-8A28-CE8B199C59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IMGT</a:t>
            </a:r>
            <a:r>
              <a:rPr kumimoji="1" lang="zh-CN" altLang="en-US" dirty="0"/>
              <a:t> </a:t>
            </a:r>
            <a:r>
              <a:rPr kumimoji="1" lang="en-US" altLang="zh-CN" dirty="0"/>
              <a:t>numbering</a:t>
            </a:r>
            <a:r>
              <a:rPr kumimoji="1" lang="zh-CN" altLang="en-US" dirty="0"/>
              <a:t> </a:t>
            </a:r>
            <a:r>
              <a:rPr kumimoji="1" lang="en-US" altLang="zh-CN" dirty="0"/>
              <a:t>Scheme</a:t>
            </a:r>
            <a:endParaRPr kumimoji="1" lang="zh-CN" altLang="en-US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50F3EBA2-F4B4-2D44-B783-77F8839644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4A453A-D4C8-4A72-B25C-F15145F3C50D}" type="slidenum">
              <a:rPr lang="zh-CN" altLang="en-US" smtClean="0"/>
              <a:t>8</a:t>
            </a:fld>
            <a:endParaRPr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69B0CFD-BF60-FC41-B1F9-7C0816D96D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3507" y="1009109"/>
            <a:ext cx="4401639" cy="5105098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62E45DC2-8A1A-D948-99A7-91BD6CD900D2}"/>
              </a:ext>
            </a:extLst>
          </p:cNvPr>
          <p:cNvSpPr txBox="1"/>
          <p:nvPr/>
        </p:nvSpPr>
        <p:spPr>
          <a:xfrm>
            <a:off x="3623442" y="6217850"/>
            <a:ext cx="267040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 err="1">
                <a:latin typeface="Arial" panose="020B0604020202020204" pitchFamily="34" charset="0"/>
                <a:cs typeface="Arial" panose="020B0604020202020204" pitchFamily="34" charset="0"/>
              </a:rPr>
              <a:t>Lefranc</a:t>
            </a:r>
            <a:r>
              <a:rPr lang="en-US" altLang="zh-CN" sz="1200" dirty="0">
                <a:latin typeface="Arial" panose="020B0604020202020204" pitchFamily="34" charset="0"/>
                <a:cs typeface="Arial" panose="020B0604020202020204" pitchFamily="34" charset="0"/>
              </a:rPr>
              <a:t>, Dev. Comp. Immunol. 2003</a:t>
            </a:r>
            <a:endParaRPr lang="zh-CN" alt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D9DBD7A-819A-044D-95C3-2F870305FFA7}"/>
              </a:ext>
            </a:extLst>
          </p:cNvPr>
          <p:cNvSpPr txBox="1"/>
          <p:nvPr/>
        </p:nvSpPr>
        <p:spPr>
          <a:xfrm>
            <a:off x="7644669" y="2311054"/>
            <a:ext cx="193186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b="1" dirty="0">
                <a:latin typeface="Arial" panose="020B0604020202020204" pitchFamily="34" charset="0"/>
                <a:cs typeface="Arial" panose="020B0604020202020204" pitchFamily="34" charset="0"/>
              </a:rPr>
              <a:t>﻿Kabat (Kabat,</a:t>
            </a:r>
            <a:r>
              <a:rPr lang="zh-CN" alt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400" b="1" dirty="0">
                <a:latin typeface="Arial" panose="020B0604020202020204" pitchFamily="34" charset="0"/>
                <a:cs typeface="Arial" panose="020B0604020202020204" pitchFamily="34" charset="0"/>
              </a:rPr>
              <a:t>1991)</a:t>
            </a:r>
            <a:endParaRPr lang="zh-CN" alt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303D765-F1F7-8241-80F1-059D88E6243B}"/>
              </a:ext>
            </a:extLst>
          </p:cNvPr>
          <p:cNvSpPr txBox="1"/>
          <p:nvPr/>
        </p:nvSpPr>
        <p:spPr>
          <a:xfrm>
            <a:off x="7339869" y="2758858"/>
            <a:ext cx="254146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b="1" dirty="0">
                <a:latin typeface="Arial" panose="020B0604020202020204" pitchFamily="34" charset="0"/>
                <a:cs typeface="Arial" panose="020B0604020202020204" pitchFamily="34" charset="0"/>
              </a:rPr>
              <a:t>﻿</a:t>
            </a:r>
            <a:r>
              <a:rPr lang="en-US" altLang="zh-CN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Chothia</a:t>
            </a:r>
            <a:r>
              <a:rPr lang="zh-CN" alt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400" b="1" dirty="0">
                <a:latin typeface="Arial" panose="020B0604020202020204" pitchFamily="34" charset="0"/>
                <a:cs typeface="Arial" panose="020B0604020202020204" pitchFamily="34" charset="0"/>
              </a:rPr>
              <a:t>(Al-</a:t>
            </a:r>
            <a:r>
              <a:rPr lang="en-US" altLang="zh-CN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Lazikani</a:t>
            </a:r>
            <a:r>
              <a:rPr lang="en-US" altLang="zh-CN" sz="1400" b="1" dirty="0">
                <a:latin typeface="Arial" panose="020B0604020202020204" pitchFamily="34" charset="0"/>
                <a:cs typeface="Arial" panose="020B0604020202020204" pitchFamily="34" charset="0"/>
              </a:rPr>
              <a:t>, 1997)</a:t>
            </a:r>
            <a:endParaRPr lang="zh-CN" alt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F3D19F8-9937-A748-99BB-B40461DC42C1}"/>
              </a:ext>
            </a:extLst>
          </p:cNvPr>
          <p:cNvSpPr txBox="1"/>
          <p:nvPr/>
        </p:nvSpPr>
        <p:spPr>
          <a:xfrm>
            <a:off x="7455067" y="3209790"/>
            <a:ext cx="23110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b="1" dirty="0">
                <a:latin typeface="Arial" panose="020B0604020202020204" pitchFamily="34" charset="0"/>
                <a:cs typeface="Arial" panose="020B0604020202020204" pitchFamily="34" charset="0"/>
              </a:rPr>
              <a:t>﻿</a:t>
            </a:r>
            <a:r>
              <a:rPr lang="en-US" altLang="zh-CN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AHo</a:t>
            </a:r>
            <a:r>
              <a:rPr lang="en-US" altLang="zh-CN" sz="1400" b="1" dirty="0">
                <a:latin typeface="Arial" panose="020B0604020202020204" pitchFamily="34" charset="0"/>
                <a:cs typeface="Arial" panose="020B0604020202020204" pitchFamily="34" charset="0"/>
              </a:rPr>
              <a:t> (Honegger, 2001)</a:t>
            </a:r>
            <a:endParaRPr lang="zh-CN" alt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5C5C30C-B418-8643-B548-007A1B64040B}"/>
              </a:ext>
            </a:extLst>
          </p:cNvPr>
          <p:cNvSpPr txBox="1"/>
          <p:nvPr/>
        </p:nvSpPr>
        <p:spPr>
          <a:xfrm>
            <a:off x="7644669" y="3703952"/>
            <a:ext cx="193186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b="1" dirty="0">
                <a:latin typeface="Arial" panose="020B0604020202020204" pitchFamily="34" charset="0"/>
                <a:cs typeface="Arial" panose="020B0604020202020204" pitchFamily="34" charset="0"/>
              </a:rPr>
              <a:t>IMGT (</a:t>
            </a:r>
            <a:r>
              <a:rPr lang="en-US" altLang="zh-CN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Lefranc</a:t>
            </a:r>
            <a:r>
              <a:rPr lang="en-US" altLang="zh-CN" sz="1400" b="1" dirty="0">
                <a:latin typeface="Arial" panose="020B0604020202020204" pitchFamily="34" charset="0"/>
                <a:cs typeface="Arial" panose="020B0604020202020204" pitchFamily="34" charset="0"/>
              </a:rPr>
              <a:t>, 2003)</a:t>
            </a:r>
            <a:endParaRPr lang="zh-CN" alt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0" name="直线箭头连接符 9">
            <a:extLst>
              <a:ext uri="{FF2B5EF4-FFF2-40B4-BE49-F238E27FC236}">
                <a16:creationId xmlns:a16="http://schemas.microsoft.com/office/drawing/2014/main" id="{70A31791-97F5-E243-84C7-A5D9E994DC6E}"/>
              </a:ext>
            </a:extLst>
          </p:cNvPr>
          <p:cNvCxnSpPr>
            <a:cxnSpLocks/>
          </p:cNvCxnSpPr>
          <p:nvPr/>
        </p:nvCxnSpPr>
        <p:spPr>
          <a:xfrm>
            <a:off x="8610599" y="3124387"/>
            <a:ext cx="0" cy="170805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直线箭头连接符 10">
            <a:extLst>
              <a:ext uri="{FF2B5EF4-FFF2-40B4-BE49-F238E27FC236}">
                <a16:creationId xmlns:a16="http://schemas.microsoft.com/office/drawing/2014/main" id="{F35EB7E7-7625-F149-8086-76DABF61B517}"/>
              </a:ext>
            </a:extLst>
          </p:cNvPr>
          <p:cNvCxnSpPr>
            <a:cxnSpLocks/>
          </p:cNvCxnSpPr>
          <p:nvPr/>
        </p:nvCxnSpPr>
        <p:spPr>
          <a:xfrm>
            <a:off x="8610599" y="2614367"/>
            <a:ext cx="0" cy="170805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直线箭头连接符 11">
            <a:extLst>
              <a:ext uri="{FF2B5EF4-FFF2-40B4-BE49-F238E27FC236}">
                <a16:creationId xmlns:a16="http://schemas.microsoft.com/office/drawing/2014/main" id="{5C99276D-7FEB-2C48-B48B-DD88A2743080}"/>
              </a:ext>
            </a:extLst>
          </p:cNvPr>
          <p:cNvCxnSpPr>
            <a:cxnSpLocks/>
          </p:cNvCxnSpPr>
          <p:nvPr/>
        </p:nvCxnSpPr>
        <p:spPr>
          <a:xfrm>
            <a:off x="8610599" y="3561658"/>
            <a:ext cx="0" cy="170805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500426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1EB472-0590-A64A-9C81-28CBF50F3F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骆驼科动物的抗体种类</a:t>
            </a:r>
            <a:endParaRPr kumimoji="1" lang="zh-CN" altLang="en-US" b="1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17BF3623-F26F-424F-B802-A01CB3DF66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4A453A-D4C8-4A72-B25C-F15145F3C50D}" type="slidenum">
              <a:rPr lang="zh-CN" altLang="en-US" smtClean="0"/>
              <a:t>9</a:t>
            </a:fld>
            <a:endParaRPr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5B155FC2-21A3-F244-BEC4-CE68921371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1407" y="830510"/>
            <a:ext cx="6644126" cy="5340409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349F6A8C-33C2-6C4E-BA80-50B56896FEE7}"/>
              </a:ext>
            </a:extLst>
          </p:cNvPr>
          <p:cNvSpPr txBox="1"/>
          <p:nvPr/>
        </p:nvSpPr>
        <p:spPr>
          <a:xfrm>
            <a:off x="2531407" y="6337853"/>
            <a:ext cx="820805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zh-CN" altLang="en-US" sz="1600" dirty="0">
                <a:latin typeface="黑体" panose="02010609060101010101" pitchFamily="49" charset="-122"/>
                <a:ea typeface="黑体" panose="02010609060101010101" pitchFamily="49" charset="-122"/>
              </a:rPr>
              <a:t>关于骆驼科的抗体分类，目前还是依赖特征位点进行人工区分，尚未有抗体分类的工具。</a:t>
            </a:r>
            <a:endParaRPr lang="en-US" altLang="zh-CN" sz="16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469079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65140C5-06D4-4F63-92F9-2D1518F733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骆驼科抗体分类工具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A807D27-7CEB-48EB-AB63-A26B2191F3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4A453A-D4C8-4A72-B25C-F15145F3C50D}" type="slidenum">
              <a:rPr lang="zh-CN" altLang="en-US" smtClean="0"/>
              <a:t>10</a:t>
            </a:fld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AB81269-933C-4020-8CB0-0F696F29DA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281" y="1160751"/>
            <a:ext cx="5619319" cy="4424049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6C0F67ED-E071-49DB-94E6-7E48782EF6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80995" y="1512335"/>
            <a:ext cx="5965091" cy="3720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98492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096EB5C-05BA-6142-B324-864E377BED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数据来源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8AAB3DD3-4007-8449-B976-8C2E5DC4CB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4A453A-D4C8-4A72-B25C-F15145F3C50D}" type="slidenum">
              <a:rPr lang="zh-CN" altLang="en-US" smtClean="0"/>
              <a:t>11</a:t>
            </a:fld>
            <a:endParaRPr lang="zh-CN" altLang="en-US"/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BB2AEA74-5373-9740-AAE4-57184BE9E7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4743512"/>
              </p:ext>
            </p:extLst>
          </p:nvPr>
        </p:nvGraphicFramePr>
        <p:xfrm>
          <a:off x="1223493" y="1384003"/>
          <a:ext cx="9513193" cy="4862727"/>
        </p:xfrm>
        <a:graphic>
          <a:graphicData uri="http://schemas.openxmlformats.org/drawingml/2006/table">
            <a:tbl>
              <a:tblPr firstRow="1" firstCol="1" bandRow="1">
                <a:tableStyleId>{7DF18680-E054-41AD-8BC1-D1AEF772440D}</a:tableStyleId>
              </a:tblPr>
              <a:tblGrid>
                <a:gridCol w="2233596">
                  <a:extLst>
                    <a:ext uri="{9D8B030D-6E8A-4147-A177-3AD203B41FA5}">
                      <a16:colId xmlns:a16="http://schemas.microsoft.com/office/drawing/2014/main" val="611247503"/>
                    </a:ext>
                  </a:extLst>
                </a:gridCol>
                <a:gridCol w="1149618">
                  <a:extLst>
                    <a:ext uri="{9D8B030D-6E8A-4147-A177-3AD203B41FA5}">
                      <a16:colId xmlns:a16="http://schemas.microsoft.com/office/drawing/2014/main" val="3632056625"/>
                    </a:ext>
                  </a:extLst>
                </a:gridCol>
                <a:gridCol w="1426827">
                  <a:extLst>
                    <a:ext uri="{9D8B030D-6E8A-4147-A177-3AD203B41FA5}">
                      <a16:colId xmlns:a16="http://schemas.microsoft.com/office/drawing/2014/main" val="170765313"/>
                    </a:ext>
                  </a:extLst>
                </a:gridCol>
                <a:gridCol w="1295505">
                  <a:extLst>
                    <a:ext uri="{9D8B030D-6E8A-4147-A177-3AD203B41FA5}">
                      <a16:colId xmlns:a16="http://schemas.microsoft.com/office/drawing/2014/main" val="3456367941"/>
                    </a:ext>
                  </a:extLst>
                </a:gridCol>
                <a:gridCol w="3407647">
                  <a:extLst>
                    <a:ext uri="{9D8B030D-6E8A-4147-A177-3AD203B41FA5}">
                      <a16:colId xmlns:a16="http://schemas.microsoft.com/office/drawing/2014/main" val="1017450103"/>
                    </a:ext>
                  </a:extLst>
                </a:gridCol>
              </a:tblGrid>
              <a:tr h="329897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  <a:cs typeface="Arial" panose="020B0604020202020204" pitchFamily="34" charset="0"/>
                        </a:rPr>
                        <a:t>Species</a:t>
                      </a:r>
                    </a:p>
                  </a:txBody>
                  <a:tcPr marL="10449" marR="10449" marT="10449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  <a:cs typeface="Arial" panose="020B0604020202020204" pitchFamily="34" charset="0"/>
                        </a:rPr>
                        <a:t>Molecule</a:t>
                      </a:r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  <a:cs typeface="Arial" panose="020B0604020202020204" pitchFamily="34" charset="0"/>
                        </a:rPr>
                        <a:t>type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0449" marR="10449" marT="10449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  <a:cs typeface="Arial" panose="020B0604020202020204" pitchFamily="34" charset="0"/>
                        </a:rPr>
                        <a:t>Type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0449" marR="10449" marT="10449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  <a:cs typeface="Arial" panose="020B0604020202020204" pitchFamily="34" charset="0"/>
                        </a:rPr>
                        <a:t>Number</a:t>
                      </a:r>
                    </a:p>
                  </a:txBody>
                  <a:tcPr marL="10449" marR="10449" marT="10449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  <a:cs typeface="Arial" panose="020B0604020202020204" pitchFamily="34" charset="0"/>
                        </a:rPr>
                        <a:t>Reference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0449" marR="10449" marT="10449" marB="0" anchor="ctr"/>
                </a:tc>
                <a:extLst>
                  <a:ext uri="{0D108BD9-81ED-4DB2-BD59-A6C34878D82A}">
                    <a16:rowId xmlns:a16="http://schemas.microsoft.com/office/drawing/2014/main" val="3728212513"/>
                  </a:ext>
                </a:extLst>
              </a:tr>
              <a:tr h="329897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Camelus dromedarius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0449" marR="10449" marT="10449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cDNA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0449" marR="10449" marT="10449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VH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0449" marR="10449" marT="10449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0449" marR="10449" marT="10449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Hamers-Casterman</a:t>
                      </a:r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1993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0449" marR="10449" marT="10449" marB="0" anchor="ctr"/>
                </a:tc>
                <a:extLst>
                  <a:ext uri="{0D108BD9-81ED-4DB2-BD59-A6C34878D82A}">
                    <a16:rowId xmlns:a16="http://schemas.microsoft.com/office/drawing/2014/main" val="2980904815"/>
                  </a:ext>
                </a:extLst>
              </a:tr>
              <a:tr h="37074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Camelus dromedarius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0449" marR="10449" marT="10449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gDNA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0449" marR="10449" marT="10449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VH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0449" marR="10449" marT="10449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50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0449" marR="10449" marT="10449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Nguyen, 2000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0449" marR="10449" marT="10449" marB="0" anchor="ctr"/>
                </a:tc>
                <a:extLst>
                  <a:ext uri="{0D108BD9-81ED-4DB2-BD59-A6C34878D82A}">
                    <a16:rowId xmlns:a16="http://schemas.microsoft.com/office/drawing/2014/main" val="3231797926"/>
                  </a:ext>
                </a:extLst>
              </a:tr>
              <a:tr h="383219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Camelus dromedarius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0449" marR="10449" marT="10449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cDNA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0449" marR="10449" marT="10449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VHH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0449" marR="10449" marT="10449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0449" marR="10449" marT="10449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Hamers-Casterman, 1993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0449" marR="10449" marT="10449" marB="0" anchor="ctr"/>
                </a:tc>
                <a:extLst>
                  <a:ext uri="{0D108BD9-81ED-4DB2-BD59-A6C34878D82A}">
                    <a16:rowId xmlns:a16="http://schemas.microsoft.com/office/drawing/2014/main" val="1090448515"/>
                  </a:ext>
                </a:extLst>
              </a:tr>
              <a:tr h="383219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Camelus dromedarius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0449" marR="10449" marT="10449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cDNA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0449" marR="10449" marT="10449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VHH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0449" marR="10449" marT="10449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0449" marR="10449" marT="10449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Muyldermans</a:t>
                      </a:r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1994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0449" marR="10449" marT="10449" marB="0" anchor="ctr"/>
                </a:tc>
                <a:extLst>
                  <a:ext uri="{0D108BD9-81ED-4DB2-BD59-A6C34878D82A}">
                    <a16:rowId xmlns:a16="http://schemas.microsoft.com/office/drawing/2014/main" val="1106102392"/>
                  </a:ext>
                </a:extLst>
              </a:tr>
              <a:tr h="383219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Camelus dromedarius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0449" marR="10449" marT="10449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gDNA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0449" marR="10449" marT="10449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VHH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0449" marR="10449" marT="10449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42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0449" marR="10449" marT="10449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Nguyen, 2000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0449" marR="10449" marT="10449" marB="0" anchor="ctr"/>
                </a:tc>
                <a:extLst>
                  <a:ext uri="{0D108BD9-81ED-4DB2-BD59-A6C34878D82A}">
                    <a16:rowId xmlns:a16="http://schemas.microsoft.com/office/drawing/2014/main" val="2845943049"/>
                  </a:ext>
                </a:extLst>
              </a:tr>
              <a:tr h="383219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Lama glama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0449" marR="10449" marT="10449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cDNA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0449" marR="10449" marT="10449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VH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0449" marR="10449" marT="10449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13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0449" marR="10449" marT="10449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Harmsen</a:t>
                      </a:r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2000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0449" marR="10449" marT="10449" marB="0" anchor="ctr"/>
                </a:tc>
                <a:extLst>
                  <a:ext uri="{0D108BD9-81ED-4DB2-BD59-A6C34878D82A}">
                    <a16:rowId xmlns:a16="http://schemas.microsoft.com/office/drawing/2014/main" val="282541452"/>
                  </a:ext>
                </a:extLst>
              </a:tr>
              <a:tr h="383219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Lama glama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0449" marR="10449" marT="10449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cDNA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0449" marR="10449" marT="10449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VH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0449" marR="10449" marT="10449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0449" marR="10449" marT="10449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Vu, 1997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0449" marR="10449" marT="10449" marB="0" anchor="ctr"/>
                </a:tc>
                <a:extLst>
                  <a:ext uri="{0D108BD9-81ED-4DB2-BD59-A6C34878D82A}">
                    <a16:rowId xmlns:a16="http://schemas.microsoft.com/office/drawing/2014/main" val="405160302"/>
                  </a:ext>
                </a:extLst>
              </a:tr>
              <a:tr h="383219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Lama glama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0449" marR="10449" marT="10449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cDNA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0449" marR="10449" marT="10449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VHH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0449" marR="10449" marT="10449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142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0449" marR="10449" marT="10449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Harmsen, 2000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0449" marR="10449" marT="10449" marB="0" anchor="ctr"/>
                </a:tc>
                <a:extLst>
                  <a:ext uri="{0D108BD9-81ED-4DB2-BD59-A6C34878D82A}">
                    <a16:rowId xmlns:a16="http://schemas.microsoft.com/office/drawing/2014/main" val="4112147839"/>
                  </a:ext>
                </a:extLst>
              </a:tr>
              <a:tr h="383219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Lama glama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0449" marR="10449" marT="10449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cDNA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0449" marR="10449" marT="10449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VHH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0449" marR="10449" marT="10449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30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0449" marR="10449" marT="10449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Vu, 1997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0449" marR="10449" marT="10449" marB="0" anchor="ctr"/>
                </a:tc>
                <a:extLst>
                  <a:ext uri="{0D108BD9-81ED-4DB2-BD59-A6C34878D82A}">
                    <a16:rowId xmlns:a16="http://schemas.microsoft.com/office/drawing/2014/main" val="4061484018"/>
                  </a:ext>
                </a:extLst>
              </a:tr>
              <a:tr h="383219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Vicugna pacos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0449" marR="10449" marT="10449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cDNA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0449" marR="10449" marT="10449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VH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0449" marR="10449" marT="10449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0449" marR="10449" marT="10449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Maass, 2007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0449" marR="10449" marT="10449" marB="0" anchor="ctr"/>
                </a:tc>
                <a:extLst>
                  <a:ext uri="{0D108BD9-81ED-4DB2-BD59-A6C34878D82A}">
                    <a16:rowId xmlns:a16="http://schemas.microsoft.com/office/drawing/2014/main" val="1995930590"/>
                  </a:ext>
                </a:extLst>
              </a:tr>
              <a:tr h="383219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Vicugna pacos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0449" marR="10449" marT="10449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gDNA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0449" marR="10449" marT="10449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VH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0449" marR="10449" marT="10449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43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0449" marR="10449" marT="10449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Achour, 2008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0449" marR="10449" marT="10449" marB="0" anchor="ctr"/>
                </a:tc>
                <a:extLst>
                  <a:ext uri="{0D108BD9-81ED-4DB2-BD59-A6C34878D82A}">
                    <a16:rowId xmlns:a16="http://schemas.microsoft.com/office/drawing/2014/main" val="240709860"/>
                  </a:ext>
                </a:extLst>
              </a:tr>
              <a:tr h="383219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Vicugna pacos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0449" marR="10449" marT="10449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cDNA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0449" marR="10449" marT="10449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VHH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0449" marR="10449" marT="10449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39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0449" marR="10449" marT="10449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Maass</a:t>
                      </a:r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2007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0449" marR="10449" marT="10449" marB="0" anchor="ctr"/>
                </a:tc>
                <a:extLst>
                  <a:ext uri="{0D108BD9-81ED-4DB2-BD59-A6C34878D82A}">
                    <a16:rowId xmlns:a16="http://schemas.microsoft.com/office/drawing/2014/main" val="36461501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739585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CE5CCB59-81DD-49A2-81B3-C32EA12B20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5219" y="1132706"/>
            <a:ext cx="5418494" cy="4940931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103C02D8-DE97-4BCF-802C-BBAF79FAEE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骆驼科抗体分类工具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8BB6473-8B86-438A-9681-BC2D82380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4A453A-D4C8-4A72-B25C-F15145F3C50D}" type="slidenum">
              <a:rPr lang="zh-CN" altLang="en-US" smtClean="0"/>
              <a:t>12</a:t>
            </a:fld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3FBDC37-2731-42B3-B1DB-642E13E604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8287" y="1331792"/>
            <a:ext cx="6160698" cy="2483315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545E45CA-3C98-7643-8B03-1A9921206DB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3403" y="4374684"/>
            <a:ext cx="2565865" cy="2483316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ED2284A3-4F01-1F48-BD52-674525CD35F7}"/>
              </a:ext>
            </a:extLst>
          </p:cNvPr>
          <p:cNvSpPr txBox="1"/>
          <p:nvPr/>
        </p:nvSpPr>
        <p:spPr>
          <a:xfrm>
            <a:off x="543117" y="4284857"/>
            <a:ext cx="5805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C</a:t>
            </a:r>
            <a:endParaRPr lang="zh-CN" altLang="en-US" sz="1800" b="1" dirty="0"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45471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03C02D8-DE97-4BCF-802C-BBAF79FAEE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骆驼科抗体分类工具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8BB6473-8B86-438A-9681-BC2D82380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4A453A-D4C8-4A72-B25C-F15145F3C50D}" type="slidenum">
              <a:rPr lang="zh-CN" altLang="en-US" smtClean="0"/>
              <a:t>13</a:t>
            </a:fld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92F8B252-EAA6-4AF8-8281-ED6441377B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342" y="1880315"/>
            <a:ext cx="6097169" cy="3369488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3160D37A-F297-C141-B511-814D3FA082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74794" y="1837731"/>
            <a:ext cx="4773807" cy="3182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45721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7E22E68-4B9F-DC4E-9D06-7D96BA3742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Data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code</a:t>
            </a:r>
            <a:r>
              <a:rPr lang="zh-CN" altLang="en-US" dirty="0"/>
              <a:t> 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8C3226D7-BB1A-4D30-808F-7E05442974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4A453A-D4C8-4A72-B25C-F15145F3C50D}" type="slidenum">
              <a:rPr lang="zh-CN" altLang="en-US" smtClean="0"/>
              <a:t>14</a:t>
            </a:fld>
            <a:endParaRPr lang="zh-CN" altLang="en-US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4E61662-D1B8-4C51-AAA5-E9736E43E1F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856343" y="1433527"/>
            <a:ext cx="9441542" cy="435133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zh-CN" altLang="en-US" sz="2000" dirty="0">
                <a:cs typeface="Arial" panose="020B0604020202020204" pitchFamily="34" charset="0"/>
              </a:rPr>
              <a:t>本研究所开发的抗体可变区分析工具运行时不依赖于参考序列库，便于使用</a:t>
            </a:r>
            <a:endParaRPr lang="en-US" altLang="zh-CN" sz="2000" dirty="0"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zh-CN" altLang="en-US" sz="2000" dirty="0">
                <a:cs typeface="Arial" panose="020B0604020202020204" pitchFamily="34" charset="0"/>
              </a:rPr>
              <a:t>抗体可变区检测器未考虑长度异常的那些序列</a:t>
            </a:r>
            <a:r>
              <a:rPr lang="zh-CN" altLang="en-US" sz="1400" dirty="0">
                <a:cs typeface="Arial" panose="020B0604020202020204" pitchFamily="34" charset="0"/>
              </a:rPr>
              <a:t>（来自斑马鱼等物种），</a:t>
            </a:r>
            <a:r>
              <a:rPr lang="zh-CN" altLang="en-US" sz="2000" dirty="0">
                <a:cs typeface="Arial" panose="020B0604020202020204" pitchFamily="34" charset="0"/>
              </a:rPr>
              <a:t>工具可以拓展至这些序列</a:t>
            </a:r>
            <a:endParaRPr lang="en-US" altLang="zh-CN" sz="2000" dirty="0"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zh-CN" altLang="en-US" sz="2000" dirty="0">
                <a:cs typeface="Arial" panose="020B0604020202020204" pitchFamily="34" charset="0"/>
              </a:rPr>
              <a:t>抗体可变区检测器的阴性数据集是随机序列，可能存在一定的不足，后续的升级版本可以考虑纳入其他蛋白的序列</a:t>
            </a:r>
            <a:endParaRPr lang="en-US" altLang="zh-CN" sz="2000" dirty="0"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zh-CN" altLang="en-US" sz="2000" dirty="0">
                <a:cs typeface="Arial" panose="020B0604020202020204" pitchFamily="34" charset="0"/>
              </a:rPr>
              <a:t>抗体分类工具的训练特征可以进行延伸，不局限于先前发现的特征位点</a:t>
            </a:r>
            <a:endParaRPr lang="en-US" altLang="zh-CN" sz="2000" dirty="0"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zh-CN" altLang="en-US" sz="2000" dirty="0">
                <a:cs typeface="Arial" panose="020B0604020202020204" pitchFamily="34" charset="0"/>
              </a:rPr>
              <a:t>重链抗体和传统抗体的特征位点比想象的要复杂，两者并没有绝对的界限，由此也提示对重链抗体的结构认识还存在不足，有待后续的深入研究</a:t>
            </a:r>
            <a:endParaRPr lang="en-US" altLang="zh-CN" sz="2000" dirty="0">
              <a:cs typeface="Arial" panose="020B0604020202020204" pitchFamily="34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9964095-518D-C143-A57E-E8064764ACEC}"/>
              </a:ext>
            </a:extLst>
          </p:cNvPr>
          <p:cNvSpPr txBox="1"/>
          <p:nvPr/>
        </p:nvSpPr>
        <p:spPr>
          <a:xfrm>
            <a:off x="3291116" y="5885941"/>
            <a:ext cx="478835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(https:// </a:t>
            </a:r>
            <a:r>
              <a:rPr lang="en-US" altLang="zh-CN" sz="1800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github.com</a:t>
            </a:r>
            <a:r>
              <a:rPr lang="en-US" altLang="zh-CN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/</a:t>
            </a:r>
            <a:r>
              <a:rPr lang="en-US" altLang="zh-CN" sz="1800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yancylau</a:t>
            </a:r>
            <a:r>
              <a:rPr lang="en-US" altLang="zh-CN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/</a:t>
            </a:r>
            <a:r>
              <a:rPr lang="en-US" altLang="zh-CN" sz="1800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camelid_vtoolkit</a:t>
            </a:r>
            <a:r>
              <a:rPr lang="en-US" altLang="zh-CN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</a:t>
            </a:r>
            <a:r>
              <a:rPr lang="zh-CN" altLang="zh-CN" dirty="0">
                <a:effectLst/>
              </a:rPr>
              <a:t>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394858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5150</TotalTime>
  <Words>601</Words>
  <Application>Microsoft Macintosh PowerPoint</Application>
  <PresentationFormat>宽屏</PresentationFormat>
  <Paragraphs>146</Paragraphs>
  <Slides>14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2" baseType="lpstr">
      <vt:lpstr>等线</vt:lpstr>
      <vt:lpstr>黑体</vt:lpstr>
      <vt:lpstr>Arial</vt:lpstr>
      <vt:lpstr>Calibri</vt:lpstr>
      <vt:lpstr>Calibri Light</vt:lpstr>
      <vt:lpstr>Times New Roman</vt:lpstr>
      <vt:lpstr>Wingdings</vt:lpstr>
      <vt:lpstr>Office 主题​​</vt:lpstr>
      <vt:lpstr>骆驼科抗体的生物信息学分析工具</vt:lpstr>
      <vt:lpstr>抗体的结构</vt:lpstr>
      <vt:lpstr>可变区的鉴定是抗体分析的前提</vt:lpstr>
      <vt:lpstr>抗体可变区分析工具综述</vt:lpstr>
      <vt:lpstr>可变区FR序列长度固定、氨基酸组成保守</vt:lpstr>
      <vt:lpstr>抗体可变区检测器</vt:lpstr>
      <vt:lpstr>抗体可变区检测器</vt:lpstr>
      <vt:lpstr>IMGT numbering Scheme</vt:lpstr>
      <vt:lpstr>骆驼科动物的抗体种类</vt:lpstr>
      <vt:lpstr>骆驼科抗体分类工具</vt:lpstr>
      <vt:lpstr>数据来源</vt:lpstr>
      <vt:lpstr>骆驼科抗体分类工具</vt:lpstr>
      <vt:lpstr>骆驼科抗体分类工具</vt:lpstr>
      <vt:lpstr>Data and code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LIUYX</dc:creator>
  <cp:lastModifiedBy>Yuexing Liu</cp:lastModifiedBy>
  <cp:revision>1017</cp:revision>
  <dcterms:created xsi:type="dcterms:W3CDTF">2021-11-02T13:27:11Z</dcterms:created>
  <dcterms:modified xsi:type="dcterms:W3CDTF">2022-06-07T02:30:25Z</dcterms:modified>
</cp:coreProperties>
</file>